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1d1fd8c83496f" /><Relationship Type="http://schemas.openxmlformats.org/officeDocument/2006/relationships/extended-properties" Target="/docProps/app.xml" Id="R156a2402ee85444b" /><Relationship Type="http://schemas.openxmlformats.org/officeDocument/2006/relationships/officeDocument" Target="/ppt/presentation.xml" Id="R4430b28fc2ac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a43bca3e74d32"/>
  </p:sldMasterIdLst>
  <p:notesMasterIdLst>
    <p:notesMasterId xmlns:r="http://schemas.openxmlformats.org/officeDocument/2006/relationships" r:id="R938ac9ba4c1e4084"/>
  </p:notesMasterIdLst>
  <p:sldIdLst>
    <p:sldId xmlns:r="http://schemas.openxmlformats.org/officeDocument/2006/relationships" id="256" r:id="Raa6156e4041f47ed"/>
    <p:sldId xmlns:r="http://schemas.openxmlformats.org/officeDocument/2006/relationships" id="257" r:id="R2e089bda877b46e6"/>
    <p:sldId xmlns:r="http://schemas.openxmlformats.org/officeDocument/2006/relationships" id="258" r:id="Ra6ee3d0013444538"/>
    <p:sldId xmlns:r="http://schemas.openxmlformats.org/officeDocument/2006/relationships" id="259" r:id="R30c3fbce63d34815"/>
    <p:sldId xmlns:r="http://schemas.openxmlformats.org/officeDocument/2006/relationships" id="260" r:id="Re586cc01feca4d3a"/>
    <p:sldId xmlns:r="http://schemas.openxmlformats.org/officeDocument/2006/relationships" id="261" r:id="R5a60804754b349fb"/>
    <p:sldId xmlns:r="http://schemas.openxmlformats.org/officeDocument/2006/relationships" id="262" r:id="Rc3177af71db447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ad854b2c64662" /><Relationship Type="http://schemas.openxmlformats.org/officeDocument/2006/relationships/slideMaster" Target="/ppt/slideMasters/slideMaster1.xml" Id="R632a43bca3e74d32" /><Relationship Type="http://schemas.openxmlformats.org/officeDocument/2006/relationships/notesMaster" Target="/ppt/notesMasters/notesMaster1.xml" Id="R938ac9ba4c1e4084" /><Relationship Type="http://schemas.openxmlformats.org/officeDocument/2006/relationships/presProps" Target="/ppt/presProps.xml" Id="R2fd73f088b3b4302" /><Relationship Type="http://schemas.openxmlformats.org/officeDocument/2006/relationships/tableStyles" Target="/ppt/tableStyles.xml" Id="R5c55f8d64b4c4498" /><Relationship Type="http://schemas.openxmlformats.org/officeDocument/2006/relationships/slide" Target="/ppt/slides/slide1.xml" Id="Raa6156e4041f47ed" /><Relationship Type="http://schemas.openxmlformats.org/officeDocument/2006/relationships/slide" Target="/ppt/slides/slide2.xml" Id="R2e089bda877b46e6" /><Relationship Type="http://schemas.openxmlformats.org/officeDocument/2006/relationships/slide" Target="/ppt/slides/slide3.xml" Id="Ra6ee3d0013444538" /><Relationship Type="http://schemas.openxmlformats.org/officeDocument/2006/relationships/slide" Target="/ppt/slides/slide4.xml" Id="R30c3fbce63d34815" /><Relationship Type="http://schemas.openxmlformats.org/officeDocument/2006/relationships/slide" Target="/ppt/slides/slide5.xml" Id="Re586cc01feca4d3a" /><Relationship Type="http://schemas.openxmlformats.org/officeDocument/2006/relationships/slide" Target="/ppt/slides/slide6.xml" Id="R5a60804754b349fb" /><Relationship Type="http://schemas.openxmlformats.org/officeDocument/2006/relationships/slide" Target="/ppt/slides/slide7.xml" Id="Rc3177af71db4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53c26eb6b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2ef79b8914db5" /><Relationship Type="http://schemas.openxmlformats.org/officeDocument/2006/relationships/notesMaster" Target="/ppt/notesMasters/notesMaster1.xml" Id="R2004f385bb6f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99435895b47bc" /><Relationship Type="http://schemas.openxmlformats.org/officeDocument/2006/relationships/notesMaster" Target="/ppt/notesMasters/notesMaster1.xml" Id="R9c03a54bbb4142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4f6a4a3fb400c" /><Relationship Type="http://schemas.openxmlformats.org/officeDocument/2006/relationships/notesMaster" Target="/ppt/notesMasters/notesMaster1.xml" Id="Raf08d2129188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b77ec560e4ee2" /><Relationship Type="http://schemas.openxmlformats.org/officeDocument/2006/relationships/notesMaster" Target="/ppt/notesMasters/notesMaster1.xml" Id="R18dfadaf574443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8bb67ce4074009" /><Relationship Type="http://schemas.openxmlformats.org/officeDocument/2006/relationships/notesMaster" Target="/ppt/notesMasters/notesMaster1.xml" Id="Ra08d3190cc5d4e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5498cda2b04f08" /><Relationship Type="http://schemas.openxmlformats.org/officeDocument/2006/relationships/notesMaster" Target="/ppt/notesMasters/notesMaster1.xml" Id="R4d127cb0384c44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017b580d5c4b2c" /><Relationship Type="http://schemas.openxmlformats.org/officeDocument/2006/relationships/notesMaster" Target="/ppt/notesMasters/notesMaster1.xml" Id="R1dc6d43fcaad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công cụ gán nhãn ảnh 2D và bằng chứng hiệu năng CPU. Không trình bày nhánh 3D như learned detector đã kiểm chứng.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sản phẩm, chưa phải kết quả năng suất đã đo.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sản phẩm: docs/figures/thumbnail.png. Demo: mở ảnh, chạy Browser CPU, sửa một hộp, đánh dấu đã kiểm và xuất XML. Chưa xác minh vòng import/save/reload trên server CVAT thật.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docs/REPAIR_2026-10-16.md. Browser dùng ONNX WASM 1 thread. Benchmark Python dùng 4 threads.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predictions/latency.json và predictions/manifest.json. Mean ms: 153.6435, 138.58, 119.77, 38.80. Tỷ số khoảng 3.96. CPU Windows Intel64 Family 6 Model 154 Stepping 3, 12 luồng phần cứng, giới hạn suy luận 4 threads.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predictions/consistency.json. INT8 sinh 99 hộp, 94 hộp ghép với 97 hộp baseline. Confidence .25, NMS IoU .45. PyTorch cũng có thể dự đoán sai.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Kiểm tra ngày 18/10/2026. Browser inference thật, 4 runtime API trả đúng hash ảnh. 50 Python tests và 5 JS tests pass. ONNX public là baseline; INT8 artifact hiện là OpenVINO IR, chưa có compressed ONNX/TFLite được xác minh. Không claim hoàn thành toàn bộ tiêu chí đề.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https://github.com/ManhLD424/M38-Edge-PreLabeling/tree/31ce2a5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799c5ef364f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040e2a9994d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56b0ff8844e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e346fe3b742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ffd7deed642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317f6a6bc4d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B28835-8E6D-4568-A79B-94DCD5705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45A392-092C-43DA-9C32-615F689EA2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F70CC9-664F-448A-8D69-1A83D09D3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0ABE8-42FE-4B15-9076-802D3EBE7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79317D-E7A0-4023-A6D8-F2FCDD7B6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36B980-C27F-4796-BD03-AFA12DDFE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492AE7-76F1-4B6F-9EF8-20DF4DEA8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5F2F66-8361-4292-8AD5-25EEC5F45E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2F7B5-E955-46B1-9AC6-44E9C38D0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8E12A-7A6C-4004-AA87-95C9CFEF4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6a30023bc9411d" /><Relationship Type="http://schemas.openxmlformats.org/officeDocument/2006/relationships/slideLayout" Target="/ppt/slideLayouts/slideLayout1.xml" Id="R1da8f10b74b64cb3" /><Relationship Type="http://schemas.openxmlformats.org/officeDocument/2006/relationships/slideLayout" Target="/ppt/slideLayouts/slideLayout2.xml" Id="R16182d09c4cd4ced" /><Relationship Type="http://schemas.openxmlformats.org/officeDocument/2006/relationships/slideLayout" Target="/ppt/slideLayouts/slideLayout3.xml" Id="R92e0a8ba1d9b4ae5" /><Relationship Type="http://schemas.openxmlformats.org/officeDocument/2006/relationships/slideLayout" Target="/ppt/slideLayouts/slideLayout4.xml" Id="R4654bd2e5efb4e10" /><Relationship Type="http://schemas.openxmlformats.org/officeDocument/2006/relationships/slideLayout" Target="/ppt/slideLayouts/slideLayout5.xml" Id="R803dcf3ecc4f4189" /><Relationship Type="http://schemas.openxmlformats.org/officeDocument/2006/relationships/slideLayout" Target="/ppt/slideLayouts/slideLayout6.xml" Id="R864a49e12fdc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8f10b74b64cb3"/>
    <p:sldLayoutId xmlns:r="http://schemas.openxmlformats.org/officeDocument/2006/relationships" id="2147483650" r:id="R16182d09c4cd4ced"/>
    <p:sldLayoutId xmlns:r="http://schemas.openxmlformats.org/officeDocument/2006/relationships" id="2147483651" r:id="R92e0a8ba1d9b4ae5"/>
    <p:sldLayoutId xmlns:r="http://schemas.openxmlformats.org/officeDocument/2006/relationships" id="2147483652" r:id="R4654bd2e5efb4e10"/>
    <p:sldLayoutId xmlns:r="http://schemas.openxmlformats.org/officeDocument/2006/relationships" id="2147483653" r:id="R803dcf3ecc4f4189"/>
    <p:sldLayoutId xmlns:r="http://schemas.openxmlformats.org/officeDocument/2006/relationships" id="2147483654" r:id="R864a49e12fdc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ab310152940f9" /><Relationship Type="http://schemas.openxmlformats.org/officeDocument/2006/relationships/notesSlide" Target="/ppt/notesSlides/notesSlide1.xml" Id="R8c35ddef61fe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9427bae0f454b" /><Relationship Type="http://schemas.openxmlformats.org/officeDocument/2006/relationships/notesSlide" Target="/ppt/notesSlides/notesSlide2.xml" Id="R439c150097964b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656ab814c4c00" /><Relationship Type="http://schemas.openxmlformats.org/officeDocument/2006/relationships/image" Target="/ppt/media/image.jpeg" Id="R3500bc6155284c57" /><Relationship Type="http://schemas.openxmlformats.org/officeDocument/2006/relationships/notesSlide" Target="/ppt/notesSlides/notesSlide3.xml" Id="R21e328f7354149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c76447ae148dd" /><Relationship Type="http://schemas.openxmlformats.org/officeDocument/2006/relationships/notesSlide" Target="/ppt/notesSlides/notesSlide4.xml" Id="Rcf551a7e6554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ee3a1b7ff4efa" /><Relationship Type="http://schemas.openxmlformats.org/officeDocument/2006/relationships/chart" Target="/ppt/slides/charts/chart1.xml" Id="R7fcdf1783cb945e7" /><Relationship Type="http://schemas.openxmlformats.org/officeDocument/2006/relationships/notesSlide" Target="/ppt/notesSlides/notesSlide5.xml" Id="Rb74eeb4b3a28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056d3f0a54cf1" /><Relationship Type="http://schemas.openxmlformats.org/officeDocument/2006/relationships/notesSlide" Target="/ppt/notesSlides/notesSlide6.xml" Id="Refa7d40e90fe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862a5c0554635" /><Relationship Type="http://schemas.openxmlformats.org/officeDocument/2006/relationships/notesSlide" Target="/ppt/notesSlides/notesSlide7.xml" Id="R37bc1b508bbf41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latency (ms)</c:v>
          </c:tx>
          <c:spPr>
            <a:solidFill xmlns:a="http://schemas.openxmlformats.org/drawingml/2006/main">
              <a:srgbClr val="B7421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PyTorch</c:v>
                </c:pt>
                <c:pt idx="1">
                  <c:v>ONNX</c:v>
                </c:pt>
                <c:pt idx="2">
                  <c:v>OV FP16</c:v>
                </c:pt>
                <c:pt idx="3">
                  <c:v>OV INT8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153.64</c:v>
                </c:pt>
                <c:pt idx="1">
                  <c:v>138.58</c:v>
                </c:pt>
                <c:pt idx="2">
                  <c:v>119.77</c:v>
                </c:pt>
                <c:pt idx="3">
                  <c:v>38.8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11743-621E-4EF2-8F34-6FC967E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M38 Prelabel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B36E1-7A1F-4D4E-87B5-B4527165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Model Compression for Edge Pre-Labeling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6FFB5-7A3F-44BF-8D34-590929D4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859CC-8298-40BD-869B-21B8CFE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A833-463A-416E-8BB3-DD60693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Tạo nhãn gợi ý trên CPU</a:t>
            </a:r>
          </a:p>
          <a:p xmlns:a="http://schemas.openxmlformats.org/drawingml/2006/main">
            <a: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Con người kiểm sửa trước khi xuất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000E1-F516-4438-97B6-201E0B8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4219"/>
                </a:solidFill>
                <a:latin typeface="Arial"/>
                <a:ea typeface="Arial"/>
                <a:cs typeface="Arial"/>
              </a:rPr>
              <a:t>YOLOv8s COCO pretrained   /   ONNX Browser   /   OpenVINO INT8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028FC-B681-4AD4-BD0C-27706AE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Đội 030 Sakana</a:t>
            </a:r>
          </a:p>
          <a:p xmlns:a="http://schemas.openxmlformats.org/drawingml/2006/main">
            <a: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Lê Đức Mạnh, Phạm Hoàng Anh, Võ Trọng Nghĩa</a:t>
            </a:r>
          </a:p>
        </p:txBody>
      </p:sp>
    </p:spTree>
    <p:extLst>
      <p:ext uri="{BB962C8B-B14F-4D97-AF65-F5344CB8AC3E}">
        <p14:creationId xmlns:p14="http://schemas.microsoft.com/office/powerpoint/2010/main" val="60324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B179C-2BCE-4AD6-AD6C-AC7C5480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Bài toán gán nhãn trên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1D4C1-F9AA-419D-AD81-DFA6F31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Nhãn gợi ý chỉ hữu ích khi người dùng có thể kiểm tra và sửa lỗi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6F501-67FE-4425-BEB2-4BC61FD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8BDFD-00A1-49A5-83E5-DEECF8D0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4DEB9-5C0F-471A-B4EC-2266EEC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Chi phí thao tác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7EF17-C401-4353-B991-8AC4019D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Vẽ và chỉnh bounding boxes thủ công.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Prelabel sai tạo thêm công kiểm sửa.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C8DD3-9A9D-424F-AFE0-73CDF0B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Ràng buộc triển khai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33EFF-9143-4A97-BBA6-9959EE00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Chạy inference trên CPU.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Đo đánh đổi giữa latency, dung lượng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và mức thay đổi prediction sau nén.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349AD-F23E-4FF2-A124-D04A657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Mục tiêu: giảm công vẽ nhãn, giữ quyền quyết định cho annotator.</a:t>
            </a:r>
          </a:p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Mức tiết kiệm thời gian thực tế cần được đo bằng pilot.</a:t>
            </a:r>
          </a:p>
        </p:txBody>
      </p:sp>
    </p:spTree>
    <p:extLst>
      <p:ext uri="{BB962C8B-B14F-4D97-AF65-F5344CB8AC3E}">
        <p14:creationId xmlns:p14="http://schemas.microsoft.com/office/powerpoint/2010/main" val="1994211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140F1-4782-4A4D-8152-6ADE5EC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Studio đang chạy được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CE4EA-BD73-49ED-906E-DFB5D0A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Chạy ONNX thật trong browser và xuất CVAT for images 1.1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2A680-5972-428D-AD0D-ED3DA69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CC580-44C8-443F-A900-AFE94DC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E0A3E-B512-487D-949E-E9BCF1355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0bc6155284c57"/>
          <a:stretch xmlns:a="http://schemas.openxmlformats.org/drawingml/2006/main"/>
        </p:blipFill>
        <p:spPr>
          <a:xfrm xmlns:a="http://schemas.openxmlformats.org/drawingml/2006/main">
            <a:off x="961035" y="2333625"/>
            <a:ext cx="710763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783F8-5B66-4960-AB0D-6874801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85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Ảnh mẫu hoặc ảnh riêng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Zoom, vẽ, sửa, xóa hộp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Hoàn tác và kiểm nhãn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Xuất XML cho CVAT</a:t>
            </a:r>
          </a:p>
        </p:txBody>
      </p:sp>
    </p:spTree>
    <p:extLst>
      <p:ext uri="{BB962C8B-B14F-4D97-AF65-F5344CB8AC3E}">
        <p14:creationId xmlns:p14="http://schemas.microsoft.com/office/powerpoint/2010/main" val="212728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2B983-1E39-45F5-A3ED-8DDFC51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Pipeline và tính đúng đắn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5ADBD-BE1A-4601-9BE8-AC9EA19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Cùng preprocessing và NMS để so sánh các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E79AF-953B-4D70-9A33-26BD2F3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33EAE-0AA9-4F53-A1CB-02B13656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4A0E9-5E4E-4CE6-B940-F71BB56B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01   Ảnh RGB và letterbox 640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5C320-A6D0-4FEB-832C-D5D5241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Padding 114, chuẩn hóa /255, input NCHW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3EB4A-84BA-45C2-B39D-089E41E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02   Nén PTQ INT8 và inference 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7929F-5BB1-4EE7-8FED-A02D8789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NNCF calibration RGB; PyTorch / ONNX / OV FP16 / INT8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02E62-1B7F-48A6-87AB-2438582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03   NMS theo lớp và người kiểm sửa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6176D-DA7F-4D01-9FC7-C73B67C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Hash ảnh/model, kết quả đúng ảnh, xuất cùng trạng thái hiển thị</a:t>
            </a:r>
          </a:p>
        </p:txBody>
      </p:sp>
    </p:spTree>
    <p:extLst>
      <p:ext uri="{BB962C8B-B14F-4D97-AF65-F5344CB8AC3E}">
        <p14:creationId xmlns:p14="http://schemas.microsoft.com/office/powerpoint/2010/main" val="1090110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F5DEC-83B9-43B8-B8E2-23194652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INT8 đạt mean latency 38,80 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28C35-D46D-48D6-BDD8-DE97290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Python CPU, 4 threads, 26 ảnh × 3 lượt, 3 warmup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47F4C-7B8C-48F4-B599-2C9F79A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48895-C30B-4574-96A4-CB361EC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7BFD88B-5DDF-4F25-B22E-9CD28EBD198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7239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cdf1783cb945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4D16C-EB97-4479-9A9A-AEB79AA7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3,96×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5B3E5-0D76-4117-BDD9-4777349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Tỷ số latency so với PyTorch</a:t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trong cùng phép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47A75-CD7F-4C6E-BB8B-4F124406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INT8: 11,24 MiB</a:t>
            </a:r>
          </a:p>
          <a:p xmlns:a="http://schemas.openxmlformats.org/drawingml/2006/main">
            <a: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ONNX: 42,79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DF8D0-013E-418C-8D8B-C9EF2B2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Gồm preprocessing + NMS. Không tính đọc ảnh/nạp model. Chưa kiểm soát nhiệt/nguồn điện.</a:t>
            </a:r>
          </a:p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Dung lượng artifact khác định dạng không chứng minh mức giảm RAM. Browser đo riêng.</a:t>
            </a:r>
          </a:p>
        </p:txBody>
      </p:sp>
    </p:spTree>
    <p:extLst>
      <p:ext uri="{BB962C8B-B14F-4D97-AF65-F5344CB8AC3E}">
        <p14:creationId xmlns:p14="http://schemas.microsoft.com/office/powerpoint/2010/main" val="1546967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37C4A-E54E-4E30-8A55-C43C25C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Độ đồng thuận sau chuyển đổi và nén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E5419-18F1-45EE-86B8-EC29D3ED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10 ảnh holdout, 97 hộp PyTorch tham chiếu, ghép cùng lớp tại IoU ≥ 0,5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8731D-EB2E-4ECD-AC3C-42B337F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77094-B346-4DAC-91E7-FF2EB7C7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9238-1BB3-4E62-B9F0-2627096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EAD0C-B988-4615-9D28-F73CE6E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Hộp ghép / tham chiếu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9997-B88C-4D00-AFBA-EEF31D9B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Mean IoU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84332-417A-4ACF-860A-88587C0B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ONNX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78B70-66F8-4FB0-8F57-98C8C20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97 / 97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63914-1A6C-4157-9199-3E9B203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1,0000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11DE4-A219-4E4A-A978-B16FDA4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OpenVINO FP16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571BE-80A3-4DDF-A63D-93A896D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97 / 97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C8E62-21A7-4FA2-8D93-DCBDC046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0,9997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22082-9BC0-45C9-9B7D-12DC7006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OpenVINO INT8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96ABD-20F1-4EA8-9053-824C9867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48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94 / 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2EC1A-E6C6-4189-B7E6-C0312019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0,8092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1F5BF-1106-4547-89A3-557D8356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Đây là agreement với PyTorch. Chưa có mAP ground truth.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4BF9A-DED7-4C40-A42A-F51618A4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Calibration: 16 ảnh hash khác holdout. Chưa xác minh độc lập theo scene.</a:t>
            </a:r>
          </a:p>
        </p:txBody>
      </p:sp>
    </p:spTree>
    <p:extLst>
      <p:ext uri="{BB962C8B-B14F-4D97-AF65-F5344CB8AC3E}">
        <p14:creationId xmlns:p14="http://schemas.microsoft.com/office/powerpoint/2010/main" val="1504682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B402C-77F6-48D3-A7F4-783C71D5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Dùng thử và phạm vi đã kiểm chứng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9CD8C-DB09-4781-A4C1-EAD52769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Demo public và bằng chứng CPU được công khai để đối chiếu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B2F91-8E7D-4790-98DC-61CF7F4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BC218-013D-4133-8829-E5C4273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E5E63-DA3F-4B47-A2A0-6BBEDAC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Public: ONNX Browser chạy thật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A81C0-C725-44A1-B68D-557A2511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PyTorch / OpenVINO native chạy qua server local. Các mục replay là kết quả lưu sẵn.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AD379-DA3D-4D95-80D0-7B10649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Dataset và chỉ số còn thiếu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E63A0-B695-441E-ADB9-4306526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26 ảnh minh họa; chưa có GT BDD100K hoặc provenance độc lập theo scene.</a:t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Chưa đo mAP drop và throughput streaming. INT8 hiện ở định dạng OpenVINO 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430A4-2801-4673-9ED7-E878E4F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Demo: manhld424.github.io/M38-Edge-PreLabeling/</a:t>
            </a:r>
          </a:p>
          <a:p xmlns:a="http://schemas.openxmlformats.org/drawingml/2006/main">
            <a:pPr>
              <a:defRPr sz="17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Log đo: manhld424.github.io/M38-Edge-PreLabeling/results.html</a:t>
            </a:r>
          </a:p>
        </p:txBody>
      </p:sp>
    </p:spTree>
    <p:extLst>
      <p:ext uri="{BB962C8B-B14F-4D97-AF65-F5344CB8AC3E}">
        <p14:creationId xmlns:p14="http://schemas.microsoft.com/office/powerpoint/2010/main" val="919044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2026-10-17T18:30:09.5920000Z</dcterms:created>
  <dcterms:modified xsi:type="dcterms:W3CDTF">2026-10-17T18:30:09.5920000Z</dcterms:modified>
</coreProperties>
</file>