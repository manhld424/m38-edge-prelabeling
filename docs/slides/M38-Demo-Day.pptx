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b2256a3de91443e" /><Relationship Type="http://schemas.openxmlformats.org/officeDocument/2006/relationships/extended-properties" Target="/docProps/app.xml" Id="R5ab37d58135c4081" /><Relationship Type="http://schemas.openxmlformats.org/officeDocument/2006/relationships/officeDocument" Target="/ppt/presentation.xml" Id="Rbc61a978932949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371f08e16b0407b"/>
  </p:sldMasterIdLst>
  <p:notesMasterIdLst>
    <p:notesMasterId xmlns:r="http://schemas.openxmlformats.org/officeDocument/2006/relationships" r:id="R4d21ff09b4994345"/>
  </p:notesMasterIdLst>
  <p:sldIdLst>
    <p:sldId xmlns:r="http://schemas.openxmlformats.org/officeDocument/2006/relationships" id="256" r:id="R173d86bb10cd44f5"/>
    <p:sldId xmlns:r="http://schemas.openxmlformats.org/officeDocument/2006/relationships" id="257" r:id="Rd583b470365442e7"/>
    <p:sldId xmlns:r="http://schemas.openxmlformats.org/officeDocument/2006/relationships" id="258" r:id="Rfdce93ccbb59411c"/>
    <p:sldId xmlns:r="http://schemas.openxmlformats.org/officeDocument/2006/relationships" id="259" r:id="R45283b787f944821"/>
    <p:sldId xmlns:r="http://schemas.openxmlformats.org/officeDocument/2006/relationships" id="260" r:id="Re749f3a9baf946e1"/>
    <p:sldId xmlns:r="http://schemas.openxmlformats.org/officeDocument/2006/relationships" id="261" r:id="Rab25a74927ab4a35"/>
    <p:sldId xmlns:r="http://schemas.openxmlformats.org/officeDocument/2006/relationships" id="262" r:id="R041accf144d9459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3bfad9c8ba4217" /><Relationship Type="http://schemas.openxmlformats.org/officeDocument/2006/relationships/slideMaster" Target="/ppt/slideMasters/slideMaster1.xml" Id="R3371f08e16b0407b" /><Relationship Type="http://schemas.openxmlformats.org/officeDocument/2006/relationships/notesMaster" Target="/ppt/notesMasters/notesMaster1.xml" Id="R4d21ff09b4994345" /><Relationship Type="http://schemas.openxmlformats.org/officeDocument/2006/relationships/presProps" Target="/ppt/presProps.xml" Id="R37aac43330584642" /><Relationship Type="http://schemas.openxmlformats.org/officeDocument/2006/relationships/tableStyles" Target="/ppt/tableStyles.xml" Id="Rceed69e224cb4c52" /><Relationship Type="http://schemas.openxmlformats.org/officeDocument/2006/relationships/slide" Target="/ppt/slides/slide1.xml" Id="R173d86bb10cd44f5" /><Relationship Type="http://schemas.openxmlformats.org/officeDocument/2006/relationships/slide" Target="/ppt/slides/slide2.xml" Id="Rd583b470365442e7" /><Relationship Type="http://schemas.openxmlformats.org/officeDocument/2006/relationships/slide" Target="/ppt/slides/slide3.xml" Id="Rfdce93ccbb59411c" /><Relationship Type="http://schemas.openxmlformats.org/officeDocument/2006/relationships/slide" Target="/ppt/slides/slide4.xml" Id="R45283b787f944821" /><Relationship Type="http://schemas.openxmlformats.org/officeDocument/2006/relationships/slide" Target="/ppt/slides/slide5.xml" Id="Re749f3a9baf946e1" /><Relationship Type="http://schemas.openxmlformats.org/officeDocument/2006/relationships/slide" Target="/ppt/slides/slide6.xml" Id="Rab25a74927ab4a35" /><Relationship Type="http://schemas.openxmlformats.org/officeDocument/2006/relationships/slide" Target="/ppt/slides/slide7.xml" Id="R041accf144d945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34dbb0035349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c834ce3e3c4f0e" /><Relationship Type="http://schemas.openxmlformats.org/officeDocument/2006/relationships/notesMaster" Target="/ppt/notesMasters/notesMaster1.xml" Id="Rbc74cc47ec6145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a08a9f079f4949" /><Relationship Type="http://schemas.openxmlformats.org/officeDocument/2006/relationships/notesMaster" Target="/ppt/notesMasters/notesMaster1.xml" Id="R90feaa5cbe2b497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787ff0ec094752" /><Relationship Type="http://schemas.openxmlformats.org/officeDocument/2006/relationships/notesMaster" Target="/ppt/notesMasters/notesMaster1.xml" Id="R0fba1721689f4a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de438f87ce48c3" /><Relationship Type="http://schemas.openxmlformats.org/officeDocument/2006/relationships/notesMaster" Target="/ppt/notesMasters/notesMaster1.xml" Id="Rcffa955e54be45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c6b4fd9425406c" /><Relationship Type="http://schemas.openxmlformats.org/officeDocument/2006/relationships/notesMaster" Target="/ppt/notesMasters/notesMaster1.xml" Id="R9e50e851c8a549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d28f0bb9dbf4b0a" /><Relationship Type="http://schemas.openxmlformats.org/officeDocument/2006/relationships/notesMaster" Target="/ppt/notesMasters/notesMaster1.xml" Id="R20e7fd4d4dd541e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d472ea655b4d36" /><Relationship Type="http://schemas.openxmlformats.org/officeDocument/2006/relationships/notesMaster" Target="/ppt/notesMasters/notesMaster1.xml" Id="Rf690f7e2e1cf44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Giới thiệu công cụ gán nhãn ảnh 2D và bằng chứng hiệu năng CPU. Không trình bày nhánh 3D như learned detector đã kiểm chứng.</a:t>
            </a:r>
          </a:p>
          <a:p xmlns:a="http://schemas.openxmlformats.org/drawingml/2006/main">
            <a:r>
              <a:t>Nguồn: https://manhld424.github.io/M38-Edge-PreLabeling/results.html</a:t>
            </a:r>
          </a:p>
          <a:p xmlns:a="http://schemas.openxmlformats.org/drawingml/2006/main">
            <a:r>
              <a:t>https://github.com/ManhLD424/M38-Edge-PreLabeling/tree/51ff2eb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Mục tiêu sản phẩm, chưa phải kết quả năng suất đã đo.</a:t>
            </a:r>
          </a:p>
          <a:p xmlns:a="http://schemas.openxmlformats.org/drawingml/2006/main">
            <a:r>
              <a:t>Nguồn: https://manhld424.github.io/M38-Edge-PreLabeling/results.html</a:t>
            </a:r>
          </a:p>
          <a:p xmlns:a="http://schemas.openxmlformats.org/drawingml/2006/main">
            <a:r>
              <a:t>https://github.com/ManhLD424/M38-Edge-PreLabeling/tree/51ff2eb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Ảnh sản phẩm: docs/figures/thumbnail.png. Demo: mở ảnh, chạy Browser CPU, sửa một hộp, đánh dấu đã kiểm và xuất XML. Chưa xác minh vòng import/save/reload trên server CVAT thật.</a:t>
            </a:r>
          </a:p>
          <a:p xmlns:a="http://schemas.openxmlformats.org/drawingml/2006/main">
            <a:r>
              <a:t>Nguồn: https://manhld424.github.io/M38-Edge-PreLabeling/results.html</a:t>
            </a:r>
          </a:p>
          <a:p xmlns:a="http://schemas.openxmlformats.org/drawingml/2006/main">
            <a:r>
              <a:t>https://github.com/ManhLD424/M38-Edge-PreLabeling/tree/51ff2eb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README.md, docs/REPAIR_2026-10-16.md. Browser dùng ONNX WASM 1 thread. Benchmark Python dùng 4 threads.</a:t>
            </a:r>
          </a:p>
          <a:p xmlns:a="http://schemas.openxmlformats.org/drawingml/2006/main">
            <a:r>
              <a:t>Nguồn: https://manhld424.github.io/M38-Edge-PreLabeling/results.html</a:t>
            </a:r>
          </a:p>
          <a:p xmlns:a="http://schemas.openxmlformats.org/drawingml/2006/main">
            <a:r>
              <a:t>https://github.com/ManhLD424/M38-Edge-PreLabeling/tree/51ff2eb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predictions/latency.json và predictions/manifest.json. Mean ms: 153.6435, 138.58, 119.77, 38.80. Tỷ số khoảng 3.96. CPU Windows Intel64 Family 6 Model 154 Stepping 3, 12 luồng phần cứng, giới hạn suy luận 4 threads.</a:t>
            </a:r>
          </a:p>
          <a:p xmlns:a="http://schemas.openxmlformats.org/drawingml/2006/main">
            <a:r>
              <a:t>Nguồn: https://manhld424.github.io/M38-Edge-PreLabeling/results.html</a:t>
            </a:r>
          </a:p>
          <a:p xmlns:a="http://schemas.openxmlformats.org/drawingml/2006/main">
            <a:r>
              <a:t>https://github.com/ManhLD424/M38-Edge-PreLabeling/tree/51ff2eb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predictions/consistency.json. INT8 sinh 99 hộp, 94 hộp ghép với 97 hộp baseline. Confidence .25, NMS IoU .45. PyTorch cũng có thể dự đoán sai.</a:t>
            </a:r>
          </a:p>
          <a:p xmlns:a="http://schemas.openxmlformats.org/drawingml/2006/main">
            <a:r>
              <a:t>Nguồn: https://manhld424.github.io/M38-Edge-PreLabeling/results.html</a:t>
            </a:r>
          </a:p>
          <a:p xmlns:a="http://schemas.openxmlformats.org/drawingml/2006/main">
            <a:r>
              <a:t>https://github.com/ManhLD424/M38-Edge-PreLabeling/tree/51ff2eb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Liên kết: https://manhld424.github.io/M38-Edge-PreLabeling/ và https://manhld424.github.io/M38-Edge-PreLabeling/results.html. Nhánh 3D vẫn là thử nghiệm heuristic.</a:t>
            </a:r>
          </a:p>
          <a:p xmlns:a="http://schemas.openxmlformats.org/drawingml/2006/main">
            <a:r>
              <a:t>Nguồn: https://manhld424.github.io/M38-Edge-PreLabeling/results.html</a:t>
            </a:r>
          </a:p>
          <a:p xmlns:a="http://schemas.openxmlformats.org/drawingml/2006/main">
            <a:r>
              <a:t>https://github.com/ManhLD424/M38-Edge-PreLabeling/tree/51ff2eb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f502354f8c4a4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834c6691df424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c271a3a4f44a8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a48147ade44eb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fcf99c051e4ae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9cdba2cf9f4d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19EE12-7944-476C-9582-0744EAF605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D710BAB-954A-45E5-A80D-90A70CD78C3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61D9E44-8DFB-4ACF-A968-A98E3EB458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189C1A2-0620-46AE-8B24-D88C53C607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209E5D4-0644-4123-9923-AF60782BDC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CF621FD-15BF-4DCD-8CCE-61F61D2E1F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6BA5E58-1FCC-4EC4-B04F-3C14C1A132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CDE270D-B335-4CEA-8795-B7E5D22018F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5CF7E1-3451-4B0B-80EA-09F550296F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3360696-1231-4593-BEC8-930FB06B90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c65db85c744b27" /><Relationship Type="http://schemas.openxmlformats.org/officeDocument/2006/relationships/slideLayout" Target="/ppt/slideLayouts/slideLayout1.xml" Id="Rc241b30f61494deb" /><Relationship Type="http://schemas.openxmlformats.org/officeDocument/2006/relationships/slideLayout" Target="/ppt/slideLayouts/slideLayout2.xml" Id="Rd79e602520ba47be" /><Relationship Type="http://schemas.openxmlformats.org/officeDocument/2006/relationships/slideLayout" Target="/ppt/slideLayouts/slideLayout3.xml" Id="Rb8094e948f7e4d94" /><Relationship Type="http://schemas.openxmlformats.org/officeDocument/2006/relationships/slideLayout" Target="/ppt/slideLayouts/slideLayout4.xml" Id="Rbe63596d84d04368" /><Relationship Type="http://schemas.openxmlformats.org/officeDocument/2006/relationships/slideLayout" Target="/ppt/slideLayouts/slideLayout5.xml" Id="R720eaac3fcbf4209" /><Relationship Type="http://schemas.openxmlformats.org/officeDocument/2006/relationships/slideLayout" Target="/ppt/slideLayouts/slideLayout6.xml" Id="R156fa3fc10d74f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241b30f61494deb"/>
    <p:sldLayoutId xmlns:r="http://schemas.openxmlformats.org/officeDocument/2006/relationships" id="2147483650" r:id="Rd79e602520ba47be"/>
    <p:sldLayoutId xmlns:r="http://schemas.openxmlformats.org/officeDocument/2006/relationships" id="2147483651" r:id="Rb8094e948f7e4d94"/>
    <p:sldLayoutId xmlns:r="http://schemas.openxmlformats.org/officeDocument/2006/relationships" id="2147483652" r:id="Rbe63596d84d04368"/>
    <p:sldLayoutId xmlns:r="http://schemas.openxmlformats.org/officeDocument/2006/relationships" id="2147483653" r:id="R720eaac3fcbf4209"/>
    <p:sldLayoutId xmlns:r="http://schemas.openxmlformats.org/officeDocument/2006/relationships" id="2147483654" r:id="R156fa3fc10d74f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ac74ecc58e4604" /><Relationship Type="http://schemas.openxmlformats.org/officeDocument/2006/relationships/notesSlide" Target="/ppt/notesSlides/notesSlide1.xml" Id="Rc963a38d3a27403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cea882c4584cf1" /><Relationship Type="http://schemas.openxmlformats.org/officeDocument/2006/relationships/notesSlide" Target="/ppt/notesSlides/notesSlide2.xml" Id="R07a78349e9994b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cc603d2fce483d" /><Relationship Type="http://schemas.openxmlformats.org/officeDocument/2006/relationships/image" Target="/ppt/media/image.jpeg" Id="R60d89a7416ad4959" /><Relationship Type="http://schemas.openxmlformats.org/officeDocument/2006/relationships/notesSlide" Target="/ppt/notesSlides/notesSlide3.xml" Id="Re5387e38f0bb40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fb926c5e254000" /><Relationship Type="http://schemas.openxmlformats.org/officeDocument/2006/relationships/notesSlide" Target="/ppt/notesSlides/notesSlide4.xml" Id="Reb1ff8b86de0496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7685c49b674528" /><Relationship Type="http://schemas.openxmlformats.org/officeDocument/2006/relationships/chart" Target="/ppt/slides/charts/chart1.xml" Id="Rcbdd1bc306d348f8" /><Relationship Type="http://schemas.openxmlformats.org/officeDocument/2006/relationships/notesSlide" Target="/ppt/notesSlides/notesSlide5.xml" Id="R9e582efdf1e342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05e51d9481489c" /><Relationship Type="http://schemas.openxmlformats.org/officeDocument/2006/relationships/notesSlide" Target="/ppt/notesSlides/notesSlide6.xml" Id="Rd0917d46586c4e6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a0731265fa43dc" /><Relationship Type="http://schemas.openxmlformats.org/officeDocument/2006/relationships/notesSlide" Target="/ppt/notesSlides/notesSlide7.xml" Id="R60229c0a5b0d4d7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Mean latency (ms)</c:v>
          </c:tx>
          <c:spPr>
            <a:solidFill xmlns:a="http://schemas.openxmlformats.org/drawingml/2006/main">
              <a:srgbClr val="B74219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PyTorch</c:v>
                </c:pt>
                <c:pt idx="1">
                  <c:v>ONNX</c:v>
                </c:pt>
                <c:pt idx="2">
                  <c:v>OV FP16</c:v>
                </c:pt>
                <c:pt idx="3">
                  <c:v>OV INT8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153.64</c:v>
                </c:pt>
                <c:pt idx="1">
                  <c:v>138.58</c:v>
                </c:pt>
                <c:pt idx="2">
                  <c:v>119.77</c:v>
                </c:pt>
                <c:pt idx="3">
                  <c:v>38.8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D57428-2990-47BF-96CD-C42ECA3A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9232F"/>
                </a:solidFill>
                <a:latin typeface="Arial"/>
                <a:ea typeface="Arial"/>
                <a:cs typeface="Arial"/>
              </a:rPr>
              <a:t>M38 Prelabel Studio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8514E3-BF93-4CC9-A7A8-470480F0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Model Compression for Edge Pre-Labeling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42C5B5-DAEB-422D-A03A-B9C84385D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M38 Prelabel Studio   /   Sakana   /   Demo Day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519EB6-271A-4A96-A14A-67F88019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5DB647-714D-4A8A-8164-0500C5A4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66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75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3975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3975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3975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3975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3975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3975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3975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3975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3975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975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19232F"/>
                </a:solidFill>
                <a:latin typeface="Arial"/>
                <a:ea typeface="Arial"/>
                <a:cs typeface="Arial"/>
              </a:rPr>
              <a:t>Tạo nhãn gợi ý trên CPU</a:t>
            </a:r>
          </a:p>
          <a:p xmlns:a="http://schemas.openxmlformats.org/drawingml/2006/main">
            <a:pPr>
              <a:defRPr sz="3975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19232F"/>
                </a:solidFill>
                <a:latin typeface="Arial"/>
                <a:ea typeface="Arial"/>
                <a:cs typeface="Arial"/>
              </a:rPr>
              <a:t>Con người kiểm sửa trước khi xuất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5833C8-D18F-4E83-A864-1514ABFD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B74219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B74219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B74219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B74219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B74219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B74219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B74219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B74219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B74219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B7421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B7421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74219"/>
                </a:solidFill>
                <a:latin typeface="Arial"/>
                <a:ea typeface="Arial"/>
                <a:cs typeface="Arial"/>
              </a:rPr>
              <a:t>YOLOv8s COCO pretrained   /   ONNX Browser   /   OpenVINO INT8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FEBB77-9544-4134-AA6E-DEB80744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Đội 030 Sakana</a:t>
            </a:r>
          </a:p>
          <a:p xmlns:a="http://schemas.openxmlformats.org/drawingml/2006/main">
            <a:pPr>
              <a:defRPr sz="18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Lê Đức Mạnh, Phạm Hoàng Anh, Võ Trọng Nghĩa</a:t>
            </a:r>
          </a:p>
        </p:txBody>
      </p:sp>
    </p:spTree>
    <p:extLst>
      <p:ext uri="{BB962C8B-B14F-4D97-AF65-F5344CB8AC3E}">
        <p14:creationId xmlns:p14="http://schemas.microsoft.com/office/powerpoint/2010/main" val="16582747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CEC0CC-E133-4A63-84E2-19D88520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9232F"/>
                </a:solidFill>
                <a:latin typeface="Arial"/>
                <a:ea typeface="Arial"/>
                <a:cs typeface="Arial"/>
              </a:rPr>
              <a:t>Bài toán gán nhãn trên CPU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E9AB94-ABA7-4A6A-B75F-70EA83D4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Nhãn gợi ý chỉ hữu ích khi người dùng có thể kiểm tra và sửa lỗi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F6118A-74EF-4427-B07C-74A73E1B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M38 Prelabel Studio   /   Sakana   /   Demo Day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690747-B2E9-4FAB-B9B2-125B5DE8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8EB100-58B7-485F-8451-AD90C905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85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74219"/>
                </a:solidFill>
                <a:latin typeface="Arial"/>
                <a:ea typeface="Arial"/>
                <a:cs typeface="Arial"/>
              </a:rPr>
              <a:t>Chi phí thao tác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1C1F92-D463-4D07-929D-9E934346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048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Vẽ và chỉnh bounding boxes thủ công.</a:t>
            </a:r>
          </a:p>
          <a:p xmlns:a="http://schemas.openxmlformats.org/drawingml/2006/main">
            <a: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Prelabel sai tạo thêm công kiểm sửa.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5B73B-60EC-4750-9FF1-7F054BF6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670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74219"/>
                </a:solidFill>
                <a:latin typeface="Arial"/>
                <a:ea typeface="Arial"/>
                <a:cs typeface="Arial"/>
              </a:rPr>
              <a:t>Ràng buộc triển khai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BF82DB-10A3-4956-B374-35A9A2656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5048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Chạy inference trên CPU.</a:t>
            </a:r>
          </a:p>
          <a:p xmlns:a="http://schemas.openxmlformats.org/drawingml/2006/main">
            <a: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Đo đánh đổi giữa latency, dung lượng</a:t>
            </a:r>
          </a:p>
          <a:p xmlns:a="http://schemas.openxmlformats.org/drawingml/2006/main">
            <a:pPr>
              <a:defRPr sz="22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và mức thay đổi prediction sau nén.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76AB9B-B4D5-4463-A604-2AAA9349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Mục tiêu: giảm công vẽ nhãn, giữ quyền quyết định cho annotator.</a:t>
            </a:r>
          </a:p>
          <a:p xmlns:a="http://schemas.openxmlformats.org/drawingml/2006/main">
            <a: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Mức tiết kiệm thời gian thực tế cần được đo bằng pilot.</a:t>
            </a:r>
          </a:p>
        </p:txBody>
      </p:sp>
    </p:spTree>
    <p:extLst>
      <p:ext uri="{BB962C8B-B14F-4D97-AF65-F5344CB8AC3E}">
        <p14:creationId xmlns:p14="http://schemas.microsoft.com/office/powerpoint/2010/main" val="14804889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7487A2-212C-44C3-9920-9F13B33E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9232F"/>
                </a:solidFill>
                <a:latin typeface="Arial"/>
                <a:ea typeface="Arial"/>
                <a:cs typeface="Arial"/>
              </a:rPr>
              <a:t>Studio đang chạy được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F6117F-906A-4095-B8D8-915CB700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Chạy ONNX thật trong browser và xuất CVAT for images 1.1 XML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B59528-A1D8-4E19-8404-E9F52BEE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M38 Prelabel Studio   /   Sakana   /   Demo Day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C649C9-03AC-447A-88BD-2D284184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DE9392-B887-4142-A7EB-B05F7E8B13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d89a7416ad4959"/>
          <a:stretch xmlns:a="http://schemas.openxmlformats.org/drawingml/2006/main"/>
        </p:blipFill>
        <p:spPr>
          <a:xfrm xmlns:a="http://schemas.openxmlformats.org/drawingml/2006/main">
            <a:off x="961035" y="2333625"/>
            <a:ext cx="7107630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F611FF-F638-4317-9E7E-945FD677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76500"/>
            <a:ext cx="28575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Ảnh mẫu hoặc ảnh riêng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Zoom, vẽ, sửa, xóa hộp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Hoàn tác và kiểm nhãn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Xuất XML cho CVAT</a:t>
            </a:r>
          </a:p>
        </p:txBody>
      </p:sp>
    </p:spTree>
    <p:extLst>
      <p:ext uri="{BB962C8B-B14F-4D97-AF65-F5344CB8AC3E}">
        <p14:creationId xmlns:p14="http://schemas.microsoft.com/office/powerpoint/2010/main" val="4085179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638D47-CA6E-494B-B0A7-671F99A6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9232F"/>
                </a:solidFill>
                <a:latin typeface="Arial"/>
                <a:ea typeface="Arial"/>
                <a:cs typeface="Arial"/>
              </a:rPr>
              <a:t>Pipeline và tính đúng đắn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6DBADA-A113-49AC-8275-B5F85724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Cùng preprocessing và NMS để so sánh các runtime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C9F0F8-CDE2-48DA-A77C-BA2A4612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M38 Prelabel Studio   /   Sakana   /   Demo Day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096367-3178-4327-84C3-9B0BC92C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DAC82-9678-460F-B759-BFEAB190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defPPr>
            <a:lvl1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1pPr>
            <a:lvl2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2pPr>
            <a:lvl3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3pPr>
            <a:lvl4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4pPr>
            <a:lvl5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5pPr>
            <a:lvl6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6pPr>
            <a:lvl7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7pPr>
            <a:lvl8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8pPr>
            <a:lvl9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B74219"/>
                </a:solidFill>
                <a:latin typeface="Arial"/>
                <a:ea typeface="Arial"/>
                <a:cs typeface="Arial"/>
              </a:rPr>
              <a:t>01   Ảnh RGB và letterbox 640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888116-8FA5-40F5-9479-6DF01C7BC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48000"/>
            <a:ext cx="9810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Padding 114, chuẩn hóa /255, input NCHW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E92491-D47F-4D97-9C78-49C2A4CB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defPPr>
            <a:lvl1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1pPr>
            <a:lvl2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2pPr>
            <a:lvl3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3pPr>
            <a:lvl4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4pPr>
            <a:lvl5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5pPr>
            <a:lvl6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6pPr>
            <a:lvl7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7pPr>
            <a:lvl8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8pPr>
            <a:lvl9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B74219"/>
                </a:solidFill>
                <a:latin typeface="Arial"/>
                <a:ea typeface="Arial"/>
                <a:cs typeface="Arial"/>
              </a:rPr>
              <a:t>02   YOLOv8s trên các runtime CPU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A94807-07A3-46E9-B327-43612A14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86250"/>
            <a:ext cx="9810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PyTorch, ONNX Runtime, OpenVINO FP16 và INT8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436DA5-61E4-4B43-B295-6986F6B8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defPPr>
            <a:lvl1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1pPr>
            <a:lvl2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2pPr>
            <a:lvl3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3pPr>
            <a:lvl4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4pPr>
            <a:lvl5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5pPr>
            <a:lvl6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6pPr>
            <a:lvl7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7pPr>
            <a:lvl8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8pPr>
            <a:lvl9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B74219"/>
                </a:solidFill>
                <a:latin typeface="Arial"/>
                <a:ea typeface="Arial"/>
                <a:cs typeface="Arial"/>
              </a:rPr>
              <a:t>03   NMS theo lớp và người kiểm sửa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3774BF-C12D-4579-9315-40150FD6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524500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Hash ảnh/model, kết quả đúng ảnh, xuất cùng trạng thái hiển thị</a:t>
            </a:r>
          </a:p>
        </p:txBody>
      </p:sp>
    </p:spTree>
    <p:extLst>
      <p:ext uri="{BB962C8B-B14F-4D97-AF65-F5344CB8AC3E}">
        <p14:creationId xmlns:p14="http://schemas.microsoft.com/office/powerpoint/2010/main" val="18778845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3E2CE0-0F4E-45EA-88BD-FFB81978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9232F"/>
                </a:solidFill>
                <a:latin typeface="Arial"/>
                <a:ea typeface="Arial"/>
                <a:cs typeface="Arial"/>
              </a:rPr>
              <a:t>INT8 đạt mean latency 38,80 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94848C-AA4E-4EF8-98EC-DC7A46BC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Python CPU, 4 threads, 26 ảnh × 3 lượt, 3 warmup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397197-F2D7-4C46-9C6E-E0A7C802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M38 Prelabel Studio   /   Sakana   /   Demo Day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D14571-3267-464E-9BE6-EF64FC4E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0DDD40F5-F33F-4CBF-91A4-1B8B82989CA3}"/>
              </a:ext>
            </a:extLst>
          </p:cNvPr>
          <p:cNvGraphicFramePr/>
          <p:nvPr/>
        </p:nvGraphicFramePr>
        <p:xfrm>
          <a:off xmlns:a="http://schemas.openxmlformats.org/drawingml/2006/main" x="609600" y="2381250"/>
          <a:ext xmlns:a="http://schemas.openxmlformats.org/drawingml/2006/main" cx="7239000" cy="3095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bdd1bc306d348f8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483903-CBC6-43F0-AFB4-D7DD4D5B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9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defPPr>
            <a:lvl1pPr>
              <a:defRPr sz="49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1pPr>
            <a:lvl2pPr>
              <a:defRPr sz="49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2pPr>
            <a:lvl3pPr>
              <a:defRPr sz="49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3pPr>
            <a:lvl4pPr>
              <a:defRPr sz="49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4pPr>
            <a:lvl5pPr>
              <a:defRPr sz="49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5pPr>
            <a:lvl6pPr>
              <a:defRPr sz="49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6pPr>
            <a:lvl7pPr>
              <a:defRPr sz="49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7pPr>
            <a:lvl8pPr>
              <a:defRPr sz="49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8pPr>
            <a:lvl9pPr>
              <a:defRPr sz="49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B74219"/>
                </a:solidFill>
                <a:latin typeface="Arial"/>
                <a:ea typeface="Arial"/>
                <a:cs typeface="Arial"/>
              </a:rPr>
              <a:t>3,96×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F50137-46DA-481D-8ACF-6D6A4716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71875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Tỷ số latency so với PyTorch</a:t>
            </a:r>
          </a:p>
          <a:p xmlns:a="http://schemas.openxmlformats.org/drawingml/2006/main">
            <a:pPr>
              <a:defRPr sz="195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trong cùng phép đo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A3B5A7-65DA-47EF-BD86-F02EF80C3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05375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9232F"/>
                </a:solidFill>
                <a:latin typeface="Arial"/>
                <a:ea typeface="Arial"/>
                <a:cs typeface="Arial"/>
              </a:rPr>
              <a:t>INT8: 11,24 MiB</a:t>
            </a:r>
          </a:p>
          <a:p xmlns:a="http://schemas.openxmlformats.org/drawingml/2006/main">
            <a:pPr>
              <a:defRPr sz="21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9232F"/>
                </a:solidFill>
                <a:latin typeface="Arial"/>
                <a:ea typeface="Arial"/>
                <a:cs typeface="Arial"/>
              </a:rPr>
              <a:t>ONNX: 42,79 MiB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358F10-8095-49FA-883F-B77ED84B2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Gồm preprocessing + NMS. Không tính đọc ảnh/nạp model. Chưa kiểm soát nhiệt/nguồn điện.</a:t>
            </a:r>
          </a:p>
          <a:p xmlns:a="http://schemas.openxmlformats.org/drawingml/2006/main">
            <a: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Dung lượng artifact khác định dạng không chứng minh mức giảm RAM. Browser đo riêng.</a:t>
            </a:r>
          </a:p>
        </p:txBody>
      </p:sp>
    </p:spTree>
    <p:extLst>
      <p:ext uri="{BB962C8B-B14F-4D97-AF65-F5344CB8AC3E}">
        <p14:creationId xmlns:p14="http://schemas.microsoft.com/office/powerpoint/2010/main" val="14394350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0FB685-1912-4234-8203-D00826A0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9232F"/>
                </a:solidFill>
                <a:latin typeface="Arial"/>
                <a:ea typeface="Arial"/>
                <a:cs typeface="Arial"/>
              </a:rPr>
              <a:t>Độ đồng thuận sau chuyển đổi và nén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5B999E-DBBD-493A-8481-4D46DBB2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10 ảnh holdout, 97 hộp PyTorch tham chiếu, ghép cùng lớp tại IoU ≥ 0,5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88D0C4-6176-471A-B35A-629DF59D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M38 Prelabel Studio   /   Sakana   /   Demo Day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C22E3-7418-4E44-ADA7-B8619CC0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0E2FD0-D9CB-404F-A891-0FCAF080F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596675"/>
                </a:solidFill>
                <a:latin typeface="Arial"/>
                <a:ea typeface="Arial"/>
                <a:cs typeface="Arial"/>
              </a:rPr>
              <a:t>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E000BE-D9F7-46F9-B435-08576837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71750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596675"/>
                </a:solidFill>
                <a:latin typeface="Arial"/>
                <a:ea typeface="Arial"/>
                <a:cs typeface="Arial"/>
              </a:rPr>
              <a:t>Hộp ghép / tham chiếu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1E935F-ED2F-4E40-8748-517ECE99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71750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596675"/>
                </a:solidFill>
                <a:latin typeface="Arial"/>
                <a:ea typeface="Arial"/>
                <a:cs typeface="Arial"/>
              </a:rPr>
              <a:t>Mean IoU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9C034E-078D-4236-AAA4-F86930C9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28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ONNX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120F63-2932-4B88-B59D-A6939D17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86125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97 / 97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94B851-5914-40A9-BDDE-1CBEF36C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86125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1,0000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4E899D-1860-49E3-8C39-B8A84DB7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OpenVINO FP16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9702F6-F707-465D-BAFD-AC61D8EE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000500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97 / 97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4626A7-742A-4820-BC65-B8D74DFF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00500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0,9997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8A327E-A8C1-482F-8BD2-2EBF7D21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28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OpenVINO INT8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67DC7E-9D29-44A1-A209-389E5AFF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714875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94 / 97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CB37FA-A8DE-4A9A-9B28-1DC1E5FD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714875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0,8092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1CCAA5-E279-4E26-BDD3-3AA3062A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B74219"/>
                </a:solidFill>
                <a:latin typeface="Arial"/>
                <a:ea typeface="Arial"/>
                <a:cs typeface="Arial"/>
              </a:rPr>
              <a:t>Đây là agreement với PyTorch. Chưa có mAP ground truth.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F1DB7-70F7-4E33-BC35-09DCFDFC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Calibration: 16 ảnh hash khác holdout. Chưa xác minh độc lập theo scene.</a:t>
            </a:r>
          </a:p>
        </p:txBody>
      </p:sp>
    </p:spTree>
    <p:extLst>
      <p:ext uri="{BB962C8B-B14F-4D97-AF65-F5344CB8AC3E}">
        <p14:creationId xmlns:p14="http://schemas.microsoft.com/office/powerpoint/2010/main" val="1939718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A1157C-6F57-47FB-A877-AF699983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9232F"/>
                </a:solidFill>
                <a:latin typeface="Arial"/>
                <a:ea typeface="Arial"/>
                <a:cs typeface="Arial"/>
              </a:rPr>
              <a:t>Demo trực tiếp và bước tiếp theo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1825D8-3110-4CAF-AB02-B397ABDF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MVP công khai, kết quả có log và giới hạn rõ ràng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7D5EBD-B149-4DDC-B943-C12223F82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M38 Prelabel Studio   /   Sakana   /   Demo Day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052838-6754-4B23-A881-D6FEC316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F901A0-FBDE-4C91-BBBE-A5BF85ADE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74219"/>
                </a:solidFill>
                <a:latin typeface="Arial"/>
                <a:ea typeface="Arial"/>
                <a:cs typeface="Arial"/>
              </a:rPr>
              <a:t>Thử sản phẩm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07E9AA-15F9-4B44-B25F-2C66948A0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manhld424.github.io/M38-Edge-PreLabeling/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A82A50-E928-4B08-BBDA-65FB5640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B7421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74219"/>
                </a:solidFill>
                <a:latin typeface="Arial"/>
                <a:ea typeface="Arial"/>
                <a:cs typeface="Arial"/>
              </a:rPr>
              <a:t>Kết quả và dữ liệu gốc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9E813C-3C1D-4EA0-98B4-789FFB391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9232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9232F"/>
                </a:solidFill>
                <a:latin typeface="Arial"/>
                <a:ea typeface="Arial"/>
                <a:cs typeface="Arial"/>
              </a:rPr>
              <a:t>manhld424.github.io/M38-Edge-PreLabeling/results.html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3C4F7E-5190-4D96-980B-CB3F7ED5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Tiếp theo: mAP trên GT độc lập, RAM đỉnh, pilot annotator</a:t>
            </a:r>
          </a:p>
          <a:p xmlns:a="http://schemas.openxmlformats.org/drawingml/2006/main">
            <a:pPr>
              <a:defRPr sz="2175" b="0">
                <a:solidFill>
                  <a:srgbClr val="59667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96675"/>
                </a:solidFill>
                <a:latin typeface="Arial"/>
                <a:ea typeface="Arial"/>
                <a:cs typeface="Arial"/>
              </a:rPr>
              <a:t>và CVAT import/save/reload trên server thật.</a:t>
            </a:r>
          </a:p>
        </p:txBody>
      </p:sp>
    </p:spTree>
    <p:extLst>
      <p:ext uri="{BB962C8B-B14F-4D97-AF65-F5344CB8AC3E}">
        <p14:creationId xmlns:p14="http://schemas.microsoft.com/office/powerpoint/2010/main" val="15601100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2026-10-17T03:36:20.0400000Z</dcterms:created>
  <dcterms:modified xsi:type="dcterms:W3CDTF">2026-10-17T03:36:20.0400000Z</dcterms:modified>
</coreProperties>
</file>