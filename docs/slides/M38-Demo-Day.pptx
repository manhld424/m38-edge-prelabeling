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e056aaa06e7430b" /><Relationship Type="http://schemas.openxmlformats.org/officeDocument/2006/relationships/extended-properties" Target="/docProps/app.xml" Id="Re314e85abc1a4d05" /><Relationship Type="http://schemas.openxmlformats.org/officeDocument/2006/relationships/officeDocument" Target="/ppt/presentation.xml" Id="Rfc84a3c5965c45a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857904dd2ce491c"/>
  </p:sldMasterIdLst>
  <p:notesMasterIdLst>
    <p:notesMasterId xmlns:r="http://schemas.openxmlformats.org/officeDocument/2006/relationships" r:id="R34e7bc8e25fd4350"/>
  </p:notesMasterIdLst>
  <p:sldIdLst>
    <p:sldId xmlns:r="http://schemas.openxmlformats.org/officeDocument/2006/relationships" id="256" r:id="R9ac87cbd041e496c"/>
    <p:sldId xmlns:r="http://schemas.openxmlformats.org/officeDocument/2006/relationships" id="257" r:id="Rf63dd86dd1804505"/>
    <p:sldId xmlns:r="http://schemas.openxmlformats.org/officeDocument/2006/relationships" id="258" r:id="R42cd8d38dac345aa"/>
    <p:sldId xmlns:r="http://schemas.openxmlformats.org/officeDocument/2006/relationships" id="259" r:id="R7d2378d54a0f4eb2"/>
    <p:sldId xmlns:r="http://schemas.openxmlformats.org/officeDocument/2006/relationships" id="260" r:id="R3a641f9ea5f84c40"/>
    <p:sldId xmlns:r="http://schemas.openxmlformats.org/officeDocument/2006/relationships" id="261" r:id="R8311b212f3bb42f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c40408594e14bc9" /><Relationship Type="http://schemas.openxmlformats.org/officeDocument/2006/relationships/slideMaster" Target="/ppt/slideMasters/slideMaster1.xml" Id="Rf857904dd2ce491c" /><Relationship Type="http://schemas.openxmlformats.org/officeDocument/2006/relationships/notesMaster" Target="/ppt/notesMasters/notesMaster1.xml" Id="R34e7bc8e25fd4350" /><Relationship Type="http://schemas.openxmlformats.org/officeDocument/2006/relationships/presProps" Target="/ppt/presProps.xml" Id="R2e8823a4f8844068" /><Relationship Type="http://schemas.openxmlformats.org/officeDocument/2006/relationships/tableStyles" Target="/ppt/tableStyles.xml" Id="Rf8abc9084c234b7d" /><Relationship Type="http://schemas.openxmlformats.org/officeDocument/2006/relationships/slide" Target="/ppt/slides/slide1.xml" Id="R9ac87cbd041e496c" /><Relationship Type="http://schemas.openxmlformats.org/officeDocument/2006/relationships/slide" Target="/ppt/slides/slide2.xml" Id="Rf63dd86dd1804505" /><Relationship Type="http://schemas.openxmlformats.org/officeDocument/2006/relationships/slide" Target="/ppt/slides/slide3.xml" Id="R42cd8d38dac345aa" /><Relationship Type="http://schemas.openxmlformats.org/officeDocument/2006/relationships/slide" Target="/ppt/slides/slide4.xml" Id="R7d2378d54a0f4eb2" /><Relationship Type="http://schemas.openxmlformats.org/officeDocument/2006/relationships/slide" Target="/ppt/slides/slide5.xml" Id="R3a641f9ea5f84c40" /><Relationship Type="http://schemas.openxmlformats.org/officeDocument/2006/relationships/slide" Target="/ppt/slides/slide6.xml" Id="R8311b212f3bb42f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0b6f6e13731495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812791f2aae4015" /><Relationship Type="http://schemas.openxmlformats.org/officeDocument/2006/relationships/notesMaster" Target="/ppt/notesMasters/notesMaster1.xml" Id="R916043e78b624b0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e3268c477a3419d" /><Relationship Type="http://schemas.openxmlformats.org/officeDocument/2006/relationships/notesMaster" Target="/ppt/notesMasters/notesMaster1.xml" Id="R52863472e3f54fa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15be6a1605f49e6" /><Relationship Type="http://schemas.openxmlformats.org/officeDocument/2006/relationships/notesMaster" Target="/ppt/notesMasters/notesMaster1.xml" Id="R0d4fd924829b475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9a61dece4bc476e" /><Relationship Type="http://schemas.openxmlformats.org/officeDocument/2006/relationships/notesMaster" Target="/ppt/notesMasters/notesMaster1.xml" Id="R4490632c27b54fa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02d5e462a4e4026" /><Relationship Type="http://schemas.openxmlformats.org/officeDocument/2006/relationships/notesMaster" Target="/ppt/notesMasters/notesMaster1.xml" Id="Rb0ddf6ee51ee4c2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20f94d0da8f4ed8" /><Relationship Type="http://schemas.openxmlformats.org/officeDocument/2006/relationships/notesMaster" Target="/ppt/notesMasters/notesMaster1.xml" Id="R3dd40e076f954ff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Giới thiệu công cụ gán nhãn ảnh 2D và bằng chứng hiệu năng CPU. Không trình bày nhánh 3D như learned detector đã kiểm chứng.</a:t>
            </a:r>
          </a:p>
          <a:p xmlns:a="http://schemas.openxmlformats.org/drawingml/2006/main">
            <a:r>
              <a:t>Nguồn: https://manhld424.github.io/M38-Edge-PreLabeling/results.html</a:t>
            </a:r>
          </a:p>
          <a:p xmlns:a="http://schemas.openxmlformats.org/drawingml/2006/main">
            <a:r>
              <a:t>https://github.com/ManhLD424/M38-Edge-PreLabeling/tree/51ff2eb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Mục tiêu sản phẩm, chưa phải kết quả năng suất đã đo.</a:t>
            </a:r>
          </a:p>
          <a:p xmlns:a="http://schemas.openxmlformats.org/drawingml/2006/main">
            <a:r>
              <a:t>Nguồn: https://manhld424.github.io/M38-Edge-PreLabeling/results.html</a:t>
            </a:r>
          </a:p>
          <a:p xmlns:a="http://schemas.openxmlformats.org/drawingml/2006/main">
            <a:r>
              <a:t>https://github.com/ManhLD424/M38-Edge-PreLabeling/tree/51ff2eb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Ảnh sản phẩm: docs/figures/thumbnail.png. Demo: mở ảnh, chạy Browser CPU, sửa một hộp, đánh dấu đã kiểm và xuất XML. Chưa xác minh vòng import/save/reload trên server CVAT thật.</a:t>
            </a:r>
          </a:p>
          <a:p xmlns:a="http://schemas.openxmlformats.org/drawingml/2006/main">
            <a:r>
              <a:t>Nguồn: https://manhld424.github.io/M38-Edge-PreLabeling/results.html</a:t>
            </a:r>
          </a:p>
          <a:p xmlns:a="http://schemas.openxmlformats.org/drawingml/2006/main">
            <a:r>
              <a:t>https://github.com/ManhLD424/M38-Edge-PreLabeling/tree/51ff2eb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README.md, docs/REPAIR_2026-10-16.md. Browser dùng ONNX WASM 1 thread. Benchmark Python dùng 4 threads.</a:t>
            </a:r>
          </a:p>
          <a:p xmlns:a="http://schemas.openxmlformats.org/drawingml/2006/main">
            <a:r>
              <a:t>Nguồn: https://manhld424.github.io/M38-Edge-PreLabeling/results.html</a:t>
            </a:r>
          </a:p>
          <a:p xmlns:a="http://schemas.openxmlformats.org/drawingml/2006/main">
            <a:r>
              <a:t>https://github.com/ManhLD424/M38-Edge-PreLabeling/tree/51ff2eb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predictions/latency.json và predictions/manifest.json. Mean ms: 153.6435, 138.58, 119.77, 38.80. Tỷ số khoảng 3.96. CPU Windows Intel64 Family 6 Model 154 Stepping 3, 12 luồng phần cứng, giới hạn suy luận 4 threads.</a:t>
            </a:r>
          </a:p>
          <a:p xmlns:a="http://schemas.openxmlformats.org/drawingml/2006/main">
            <a:r>
              <a:t>Nguồn: https://manhld424.github.io/M38-Edge-PreLabeling/results.html</a:t>
            </a:r>
          </a:p>
          <a:p xmlns:a="http://schemas.openxmlformats.org/drawingml/2006/main">
            <a:r>
              <a:t>https://github.com/ManhLD424/M38-Edge-PreLabeling/tree/51ff2eb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predictions/consistency.json. INT8 sinh 99 hộp, 94 hộp ghép với 97 hộp baseline. Confidence .25, NMS IoU .45. PyTorch cũng có thể dự đoán sai.</a:t>
            </a:r>
          </a:p>
          <a:p xmlns:a="http://schemas.openxmlformats.org/drawingml/2006/main">
            <a:r>
              <a:t>Nguồn: https://manhld424.github.io/M38-Edge-PreLabeling/results.html</a:t>
            </a:r>
          </a:p>
          <a:p xmlns:a="http://schemas.openxmlformats.org/drawingml/2006/main">
            <a:r>
              <a:t>https://github.com/ManhLD424/M38-Edge-PreLabeling/tree/51ff2eb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3740f6d3f2472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84ffd5b417467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811e62ee21447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5550e98619455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60dad40bf041c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ce7cf2e959437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0FAD992-A80C-4B68-9DAC-05D7945BBD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3969019-381F-41A2-A267-D86EFDA1884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841F282-74C6-4AF8-B699-A45E17D2E7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63DEEAD-DE94-4A71-83EB-39E8A88C63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56C4DD1-E5FF-4C7B-9B46-DD3A3A0C06F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18A4A87-69FA-4590-AFBE-DA8B84D3E6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C5196EB-E156-4A1C-9F8D-291649BBD8E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D7AA120-79E7-41B8-B598-21662DEF0E0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F391A07-91B5-4412-A130-6DA8A44E4C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9B0FE75-2E81-49ED-96ED-87E6F5A67F9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510e87572e4a07" /><Relationship Type="http://schemas.openxmlformats.org/officeDocument/2006/relationships/slideLayout" Target="/ppt/slideLayouts/slideLayout1.xml" Id="Reda6c130016d40f1" /><Relationship Type="http://schemas.openxmlformats.org/officeDocument/2006/relationships/slideLayout" Target="/ppt/slideLayouts/slideLayout2.xml" Id="Rb5ebcbc698454ee3" /><Relationship Type="http://schemas.openxmlformats.org/officeDocument/2006/relationships/slideLayout" Target="/ppt/slideLayouts/slideLayout3.xml" Id="R8486d91497b54f87" /><Relationship Type="http://schemas.openxmlformats.org/officeDocument/2006/relationships/slideLayout" Target="/ppt/slideLayouts/slideLayout4.xml" Id="R84c9d08dde094b17" /><Relationship Type="http://schemas.openxmlformats.org/officeDocument/2006/relationships/slideLayout" Target="/ppt/slideLayouts/slideLayout5.xml" Id="R3f9aad64168545bd" /><Relationship Type="http://schemas.openxmlformats.org/officeDocument/2006/relationships/slideLayout" Target="/ppt/slideLayouts/slideLayout6.xml" Id="Rfae66b972b954c5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da6c130016d40f1"/>
    <p:sldLayoutId xmlns:r="http://schemas.openxmlformats.org/officeDocument/2006/relationships" id="2147483650" r:id="Rb5ebcbc698454ee3"/>
    <p:sldLayoutId xmlns:r="http://schemas.openxmlformats.org/officeDocument/2006/relationships" id="2147483651" r:id="R8486d91497b54f87"/>
    <p:sldLayoutId xmlns:r="http://schemas.openxmlformats.org/officeDocument/2006/relationships" id="2147483652" r:id="R84c9d08dde094b17"/>
    <p:sldLayoutId xmlns:r="http://schemas.openxmlformats.org/officeDocument/2006/relationships" id="2147483653" r:id="R3f9aad64168545bd"/>
    <p:sldLayoutId xmlns:r="http://schemas.openxmlformats.org/officeDocument/2006/relationships" id="2147483654" r:id="Rfae66b972b954c5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bb622393a24f23" /><Relationship Type="http://schemas.openxmlformats.org/officeDocument/2006/relationships/notesSlide" Target="/ppt/notesSlides/notesSlide1.xml" Id="R3ab64ba3f20b4d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969ea56aa84987" /><Relationship Type="http://schemas.openxmlformats.org/officeDocument/2006/relationships/notesSlide" Target="/ppt/notesSlides/notesSlide2.xml" Id="Rc2f0d23f1123427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e76ac6a4a740b2" /><Relationship Type="http://schemas.openxmlformats.org/officeDocument/2006/relationships/image" Target="/ppt/media/image.jpeg" Id="Re119697c26e04f05" /><Relationship Type="http://schemas.openxmlformats.org/officeDocument/2006/relationships/notesSlide" Target="/ppt/notesSlides/notesSlide3.xml" Id="Re77f7b493be74b8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c4846778274fb8" /><Relationship Type="http://schemas.openxmlformats.org/officeDocument/2006/relationships/notesSlide" Target="/ppt/notesSlides/notesSlide4.xml" Id="Re1e66324001742f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51ad74eeb64098" /><Relationship Type="http://schemas.openxmlformats.org/officeDocument/2006/relationships/chart" Target="/ppt/slides/charts/chart1.xml" Id="R2f520f70745c4099" /><Relationship Type="http://schemas.openxmlformats.org/officeDocument/2006/relationships/notesSlide" Target="/ppt/notesSlides/notesSlide5.xml" Id="Rba4402caf34a467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d38c7856bd4cc0" /><Relationship Type="http://schemas.openxmlformats.org/officeDocument/2006/relationships/notesSlide" Target="/ppt/notesSlides/notesSlide6.xml" Id="Rfc54f81d2ad04a6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Mean latency (ms)</c:v>
          </c:tx>
          <c:spPr>
            <a:solidFill xmlns:a="http://schemas.openxmlformats.org/drawingml/2006/main">
              <a:srgbClr val="B74219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PyTorch</c:v>
                </c:pt>
                <c:pt idx="1">
                  <c:v>ONNX</c:v>
                </c:pt>
                <c:pt idx="2">
                  <c:v>OV FP16</c:v>
                </c:pt>
                <c:pt idx="3">
                  <c:v>OV INT8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153.64</c:v>
                </c:pt>
                <c:pt idx="1">
                  <c:v>138.58</c:v>
                </c:pt>
                <c:pt idx="2">
                  <c:v>119.77</c:v>
                </c:pt>
                <c:pt idx="3">
                  <c:v>38.8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90693E-57C9-45E4-8E52-91FCB1ACE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9232F"/>
                </a:solidFill>
                <a:latin typeface="Arial"/>
                <a:ea typeface="Arial"/>
                <a:cs typeface="Arial"/>
              </a:rPr>
              <a:t>M38 Prelabel Studio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E3D1E2-349A-428E-AD54-DE9FB7E8B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96675"/>
                </a:solidFill>
                <a:latin typeface="Arial"/>
                <a:ea typeface="Arial"/>
                <a:cs typeface="Arial"/>
              </a:rPr>
              <a:t>Model Compression for Edge Pre-Labeling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B0122A-E0D5-49DF-94D5-A72C54A1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675"/>
                </a:solidFill>
                <a:latin typeface="Arial"/>
                <a:ea typeface="Arial"/>
                <a:cs typeface="Arial"/>
              </a:rPr>
              <a:t>M38 Prelabel Studio   /   Sakana   /   Demo Day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ACCFFC-3036-4045-BEFE-1CCFAECAF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67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74EDD2-B204-48F8-8AFF-A54B36DE5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1066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75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defPPr>
            <a:lvl1pPr>
              <a:defRPr sz="3975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1pPr>
            <a:lvl2pPr>
              <a:defRPr sz="3975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2pPr>
            <a:lvl3pPr>
              <a:defRPr sz="3975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3pPr>
            <a:lvl4pPr>
              <a:defRPr sz="3975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4pPr>
            <a:lvl5pPr>
              <a:defRPr sz="3975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5pPr>
            <a:lvl6pPr>
              <a:defRPr sz="3975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6pPr>
            <a:lvl7pPr>
              <a:defRPr sz="3975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7pPr>
            <a:lvl8pPr>
              <a:defRPr sz="3975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8pPr>
            <a:lvl9pPr>
              <a:defRPr sz="3975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975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19232F"/>
                </a:solidFill>
                <a:latin typeface="Arial"/>
                <a:ea typeface="Arial"/>
                <a:cs typeface="Arial"/>
              </a:rPr>
              <a:t>Tạo nhãn gợi ý trên CPU</a:t>
            </a:r>
          </a:p>
          <a:p xmlns:a="http://schemas.openxmlformats.org/drawingml/2006/main">
            <a:pPr>
              <a:defRPr sz="3975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19232F"/>
                </a:solidFill>
                <a:latin typeface="Arial"/>
                <a:ea typeface="Arial"/>
                <a:cs typeface="Arial"/>
              </a:rPr>
              <a:t>Con người kiểm sửa trước khi xuất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E965D4-69BF-4E5A-9750-81FB91DCA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B74219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B74219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B74219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B74219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B74219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B74219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B74219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B74219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B74219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B7421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B7421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74219"/>
                </a:solidFill>
                <a:latin typeface="Arial"/>
                <a:ea typeface="Arial"/>
                <a:cs typeface="Arial"/>
              </a:rPr>
              <a:t>YOLOv8s COCO pretrained   /   ONNX Browser   /   OpenVINO INT8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D2DDBF-1729-49FF-8C16-9BA00FFAB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96675"/>
                </a:solidFill>
                <a:latin typeface="Arial"/>
                <a:ea typeface="Arial"/>
                <a:cs typeface="Arial"/>
              </a:rPr>
              <a:t>Đội 030 Sakana</a:t>
            </a:r>
          </a:p>
          <a:p xmlns:a="http://schemas.openxmlformats.org/drawingml/2006/main">
            <a:pPr>
              <a:defRPr sz="18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96675"/>
                </a:solidFill>
                <a:latin typeface="Arial"/>
                <a:ea typeface="Arial"/>
                <a:cs typeface="Arial"/>
              </a:rPr>
              <a:t>Lê Đức Mạnh, Phạm Hoàng Anh, Võ Trọng Nghĩa</a:t>
            </a:r>
          </a:p>
        </p:txBody>
      </p:sp>
    </p:spTree>
    <p:extLst>
      <p:ext uri="{BB962C8B-B14F-4D97-AF65-F5344CB8AC3E}">
        <p14:creationId xmlns:p14="http://schemas.microsoft.com/office/powerpoint/2010/main" val="10144119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A8C0E9-47D4-43F0-BE4A-F1B817896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9232F"/>
                </a:solidFill>
                <a:latin typeface="Arial"/>
                <a:ea typeface="Arial"/>
                <a:cs typeface="Arial"/>
              </a:rPr>
              <a:t>Bài toán gán nhãn trên CPU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838347-DCB8-4DE2-BC22-76627A7F0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96675"/>
                </a:solidFill>
                <a:latin typeface="Arial"/>
                <a:ea typeface="Arial"/>
                <a:cs typeface="Arial"/>
              </a:rPr>
              <a:t>Nhãn gợi ý chỉ hữu ích khi người dùng có thể kiểm tra và sửa lỗi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2CE700-81F2-4719-B059-36AAB8250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675"/>
                </a:solidFill>
                <a:latin typeface="Arial"/>
                <a:ea typeface="Arial"/>
                <a:cs typeface="Arial"/>
              </a:rPr>
              <a:t>M38 Prelabel Studio   /   Sakana   /   Demo Day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D58FF9-EA83-4A2D-AE34-B1DE8407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67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4B5FD8-7859-4F05-AB06-360EC6387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74219"/>
                </a:solidFill>
                <a:latin typeface="Arial"/>
                <a:ea typeface="Arial"/>
                <a:cs typeface="Arial"/>
              </a:rPr>
              <a:t>Chi phí thao tác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8A8414-847B-402B-98F9-E33C364DF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048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9232F"/>
                </a:solidFill>
                <a:latin typeface="Arial"/>
                <a:ea typeface="Arial"/>
                <a:cs typeface="Arial"/>
              </a:rPr>
              <a:t>Vẽ và chỉnh bounding boxes thủ công.</a:t>
            </a:r>
          </a:p>
          <a:p xmlns:a="http://schemas.openxmlformats.org/drawingml/2006/main">
            <a:pPr>
              <a:defRPr sz="22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9232F"/>
                </a:solidFill>
                <a:latin typeface="Arial"/>
                <a:ea typeface="Arial"/>
                <a:cs typeface="Arial"/>
              </a:rPr>
              <a:t>Prelabel sai tạo thêm công kiểm sửa.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9F4673-FB56-4932-BC73-1D9954D86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670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74219"/>
                </a:solidFill>
                <a:latin typeface="Arial"/>
                <a:ea typeface="Arial"/>
                <a:cs typeface="Arial"/>
              </a:rPr>
              <a:t>Ràng buộc triển khai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DC36C8-65BE-427C-A1FE-62C3C279A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33750"/>
            <a:ext cx="5048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9232F"/>
                </a:solidFill>
                <a:latin typeface="Arial"/>
                <a:ea typeface="Arial"/>
                <a:cs typeface="Arial"/>
              </a:rPr>
              <a:t>Chạy inference trên CPU.</a:t>
            </a:r>
          </a:p>
          <a:p xmlns:a="http://schemas.openxmlformats.org/drawingml/2006/main">
            <a:pPr>
              <a:defRPr sz="22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9232F"/>
                </a:solidFill>
                <a:latin typeface="Arial"/>
                <a:ea typeface="Arial"/>
                <a:cs typeface="Arial"/>
              </a:rPr>
              <a:t>Đo đánh đổi giữa latency, dung lượng</a:t>
            </a:r>
          </a:p>
          <a:p xmlns:a="http://schemas.openxmlformats.org/drawingml/2006/main">
            <a:pPr>
              <a:defRPr sz="22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9232F"/>
                </a:solidFill>
                <a:latin typeface="Arial"/>
                <a:ea typeface="Arial"/>
                <a:cs typeface="Arial"/>
              </a:rPr>
              <a:t>và mức thay đổi prediction sau nén.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F8DFF8-D457-4941-8AF2-C4408BFB7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96675"/>
                </a:solidFill>
                <a:latin typeface="Arial"/>
                <a:ea typeface="Arial"/>
                <a:cs typeface="Arial"/>
              </a:rPr>
              <a:t>Mục tiêu: giảm công vẽ nhãn, giữ quyền quyết định cho annotator.</a:t>
            </a:r>
          </a:p>
          <a:p xmlns:a="http://schemas.openxmlformats.org/drawingml/2006/main">
            <a:pPr>
              <a:defRPr sz="202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96675"/>
                </a:solidFill>
                <a:latin typeface="Arial"/>
                <a:ea typeface="Arial"/>
                <a:cs typeface="Arial"/>
              </a:rPr>
              <a:t>Mức tiết kiệm thời gian thực tế cần được đo bằng pilot.</a:t>
            </a:r>
          </a:p>
        </p:txBody>
      </p:sp>
    </p:spTree>
    <p:extLst>
      <p:ext uri="{BB962C8B-B14F-4D97-AF65-F5344CB8AC3E}">
        <p14:creationId xmlns:p14="http://schemas.microsoft.com/office/powerpoint/2010/main" val="10021740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BDF56E-C025-4CD1-89AD-9A961ECE9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9232F"/>
                </a:solidFill>
                <a:latin typeface="Arial"/>
                <a:ea typeface="Arial"/>
                <a:cs typeface="Arial"/>
              </a:rPr>
              <a:t>Studio đang chạy được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2FCCF8-779A-4698-BD69-049A9F4D8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96675"/>
                </a:solidFill>
                <a:latin typeface="Arial"/>
                <a:ea typeface="Arial"/>
                <a:cs typeface="Arial"/>
              </a:rPr>
              <a:t>Chạy ONNX thật trong browser và xuất CVAT for images 1.1 XML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8587E0-B118-425D-A33F-5D5986043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675"/>
                </a:solidFill>
                <a:latin typeface="Arial"/>
                <a:ea typeface="Arial"/>
                <a:cs typeface="Arial"/>
              </a:rPr>
              <a:t>M38 Prelabel Studio   /   Sakana   /   Demo Day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9BE08E-9522-4EF8-BA21-48F105FE8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67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6D57F5-3D9A-4790-A6F4-E9B3041264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19697c26e04f05"/>
          <a:stretch xmlns:a="http://schemas.openxmlformats.org/drawingml/2006/main"/>
        </p:blipFill>
        <p:spPr>
          <a:xfrm xmlns:a="http://schemas.openxmlformats.org/drawingml/2006/main">
            <a:off x="961035" y="2333625"/>
            <a:ext cx="7107630" cy="4000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784A29-0AA5-4671-BB8F-5555A6E41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76500"/>
            <a:ext cx="28575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232F"/>
                </a:solidFill>
                <a:latin typeface="Arial"/>
                <a:ea typeface="Arial"/>
                <a:cs typeface="Arial"/>
              </a:rPr>
              <a:t>Ảnh mẫu hoặc ảnh riêng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232F"/>
                </a:solidFill>
                <a:latin typeface="Arial"/>
                <a:ea typeface="Arial"/>
                <a:cs typeface="Arial"/>
              </a:rPr>
              <a:t>Zoom, vẽ, sửa, xóa hộp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232F"/>
                </a:solidFill>
                <a:latin typeface="Arial"/>
                <a:ea typeface="Arial"/>
                <a:cs typeface="Arial"/>
              </a:rPr>
              <a:t>Hoàn tác và kiểm nhãn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232F"/>
                </a:solidFill>
                <a:latin typeface="Arial"/>
                <a:ea typeface="Arial"/>
                <a:cs typeface="Arial"/>
              </a:rPr>
              <a:t>Xuất XML cho CVAT</a:t>
            </a:r>
          </a:p>
        </p:txBody>
      </p:sp>
    </p:spTree>
    <p:extLst>
      <p:ext uri="{BB962C8B-B14F-4D97-AF65-F5344CB8AC3E}">
        <p14:creationId xmlns:p14="http://schemas.microsoft.com/office/powerpoint/2010/main" val="16266270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83DC87-9C18-49FE-A1E1-CCC2D7F4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9232F"/>
                </a:solidFill>
                <a:latin typeface="Arial"/>
                <a:ea typeface="Arial"/>
                <a:cs typeface="Arial"/>
              </a:rPr>
              <a:t>Pipeline và tính đúng đắn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22E1FA-C9FC-4599-AA7A-7E205439C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96675"/>
                </a:solidFill>
                <a:latin typeface="Arial"/>
                <a:ea typeface="Arial"/>
                <a:cs typeface="Arial"/>
              </a:rPr>
              <a:t>Cùng preprocessing và NMS để so sánh các runtime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3D76B6-2BB7-4D39-9CA3-EF2F4D1DC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675"/>
                </a:solidFill>
                <a:latin typeface="Arial"/>
                <a:ea typeface="Arial"/>
                <a:cs typeface="Arial"/>
              </a:rPr>
              <a:t>M38 Prelabel Studio   /   Sakana   /   Demo Day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CBFE9C-8739-4DE8-ABE8-5336C059D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67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2FC79A-36AB-4F70-BD38-638DEFBF9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defPPr>
            <a:lvl1pPr>
              <a:defRPr sz="2475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1pPr>
            <a:lvl2pPr>
              <a:defRPr sz="2475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2pPr>
            <a:lvl3pPr>
              <a:defRPr sz="2475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3pPr>
            <a:lvl4pPr>
              <a:defRPr sz="2475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4pPr>
            <a:lvl5pPr>
              <a:defRPr sz="2475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5pPr>
            <a:lvl6pPr>
              <a:defRPr sz="2475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6pPr>
            <a:lvl7pPr>
              <a:defRPr sz="2475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7pPr>
            <a:lvl8pPr>
              <a:defRPr sz="2475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8pPr>
            <a:lvl9pPr>
              <a:defRPr sz="2475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B74219"/>
                </a:solidFill>
                <a:latin typeface="Arial"/>
                <a:ea typeface="Arial"/>
                <a:cs typeface="Arial"/>
              </a:rPr>
              <a:t>01   Ảnh RGB và letterbox 640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F31734-B623-41AD-8D54-0AF0582E1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048000"/>
            <a:ext cx="981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96675"/>
                </a:solidFill>
                <a:latin typeface="Arial"/>
                <a:ea typeface="Arial"/>
                <a:cs typeface="Arial"/>
              </a:rPr>
              <a:t>Padding 114, chuẩn hóa /255, input NCHW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D0C0C6-680C-4275-B8BD-729B182A6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defPPr>
            <a:lvl1pPr>
              <a:defRPr sz="2475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1pPr>
            <a:lvl2pPr>
              <a:defRPr sz="2475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2pPr>
            <a:lvl3pPr>
              <a:defRPr sz="2475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3pPr>
            <a:lvl4pPr>
              <a:defRPr sz="2475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4pPr>
            <a:lvl5pPr>
              <a:defRPr sz="2475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5pPr>
            <a:lvl6pPr>
              <a:defRPr sz="2475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6pPr>
            <a:lvl7pPr>
              <a:defRPr sz="2475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7pPr>
            <a:lvl8pPr>
              <a:defRPr sz="2475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8pPr>
            <a:lvl9pPr>
              <a:defRPr sz="2475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B74219"/>
                </a:solidFill>
                <a:latin typeface="Arial"/>
                <a:ea typeface="Arial"/>
                <a:cs typeface="Arial"/>
              </a:rPr>
              <a:t>02   YOLOv8s trên các runtime CPU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58D61E-8DA4-4D57-B9DD-AAFFA7008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86250"/>
            <a:ext cx="981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96675"/>
                </a:solidFill>
                <a:latin typeface="Arial"/>
                <a:ea typeface="Arial"/>
                <a:cs typeface="Arial"/>
              </a:rPr>
              <a:t>PyTorch, ONNX Runtime, OpenVINO FP16 và INT8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225E6A-6D11-41E0-BE28-C2321D950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defPPr>
            <a:lvl1pPr>
              <a:defRPr sz="2475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1pPr>
            <a:lvl2pPr>
              <a:defRPr sz="2475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2pPr>
            <a:lvl3pPr>
              <a:defRPr sz="2475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3pPr>
            <a:lvl4pPr>
              <a:defRPr sz="2475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4pPr>
            <a:lvl5pPr>
              <a:defRPr sz="2475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5pPr>
            <a:lvl6pPr>
              <a:defRPr sz="2475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6pPr>
            <a:lvl7pPr>
              <a:defRPr sz="2475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7pPr>
            <a:lvl8pPr>
              <a:defRPr sz="2475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8pPr>
            <a:lvl9pPr>
              <a:defRPr sz="2475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B74219"/>
                </a:solidFill>
                <a:latin typeface="Arial"/>
                <a:ea typeface="Arial"/>
                <a:cs typeface="Arial"/>
              </a:rPr>
              <a:t>03   NMS theo lớp và người kiểm sửa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2071F6-85EE-4428-9EB6-65164D96B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524500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96675"/>
                </a:solidFill>
                <a:latin typeface="Arial"/>
                <a:ea typeface="Arial"/>
                <a:cs typeface="Arial"/>
              </a:rPr>
              <a:t>Hash ảnh/model, kết quả đúng ảnh, xuất cùng trạng thái hiển thị</a:t>
            </a:r>
          </a:p>
        </p:txBody>
      </p:sp>
    </p:spTree>
    <p:extLst>
      <p:ext uri="{BB962C8B-B14F-4D97-AF65-F5344CB8AC3E}">
        <p14:creationId xmlns:p14="http://schemas.microsoft.com/office/powerpoint/2010/main" val="9314677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2E8A69-B8BD-42C4-9D81-EC44412BC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9232F"/>
                </a:solidFill>
                <a:latin typeface="Arial"/>
                <a:ea typeface="Arial"/>
                <a:cs typeface="Arial"/>
              </a:rPr>
              <a:t>INT8 đạt mean latency 38,80 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DFDBFA-7466-4F3D-BF94-33E2CF038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96675"/>
                </a:solidFill>
                <a:latin typeface="Arial"/>
                <a:ea typeface="Arial"/>
                <a:cs typeface="Arial"/>
              </a:rPr>
              <a:t>Python CPU, 4 threads, 26 ảnh × 3 lượt, 3 warmup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E270C0-1C22-4F0F-AB5C-57826DCA7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675"/>
                </a:solidFill>
                <a:latin typeface="Arial"/>
                <a:ea typeface="Arial"/>
                <a:cs typeface="Arial"/>
              </a:rPr>
              <a:t>M38 Prelabel Studio   /   Sakana   /   Demo Day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64BBCA-6816-4EFE-BA38-BA23C112D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67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28E8CD0F-136C-4BAB-83B2-169600AC4F95}"/>
              </a:ext>
            </a:extLst>
          </p:cNvPr>
          <p:cNvGraphicFramePr/>
          <p:nvPr/>
        </p:nvGraphicFramePr>
        <p:xfrm>
          <a:off xmlns:a="http://schemas.openxmlformats.org/drawingml/2006/main" x="609600" y="2381250"/>
          <a:ext xmlns:a="http://schemas.openxmlformats.org/drawingml/2006/main" cx="7239000" cy="3095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f520f70745c4099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7895FD-C2BD-463E-8C1E-9F9B45A97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950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defPPr>
            <a:lvl1pPr>
              <a:defRPr sz="4950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1pPr>
            <a:lvl2pPr>
              <a:defRPr sz="4950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2pPr>
            <a:lvl3pPr>
              <a:defRPr sz="4950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3pPr>
            <a:lvl4pPr>
              <a:defRPr sz="4950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4pPr>
            <a:lvl5pPr>
              <a:defRPr sz="4950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5pPr>
            <a:lvl6pPr>
              <a:defRPr sz="4950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6pPr>
            <a:lvl7pPr>
              <a:defRPr sz="4950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7pPr>
            <a:lvl8pPr>
              <a:defRPr sz="4950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8pPr>
            <a:lvl9pPr>
              <a:defRPr sz="4950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950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B74219"/>
                </a:solidFill>
                <a:latin typeface="Arial"/>
                <a:ea typeface="Arial"/>
                <a:cs typeface="Arial"/>
              </a:rPr>
              <a:t>3,96×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49AC4B-439F-4E4B-B40D-CB8B80D5D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71875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232F"/>
                </a:solidFill>
                <a:latin typeface="Arial"/>
                <a:ea typeface="Arial"/>
                <a:cs typeface="Arial"/>
              </a:rPr>
              <a:t>Tỷ số latency so với PyTorch</a:t>
            </a:r>
          </a:p>
          <a:p xmlns:a="http://schemas.openxmlformats.org/drawingml/2006/main">
            <a:pPr>
              <a:defRPr sz="1950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232F"/>
                </a:solidFill>
                <a:latin typeface="Arial"/>
                <a:ea typeface="Arial"/>
                <a:cs typeface="Arial"/>
              </a:rPr>
              <a:t>trong cùng phép đo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6641E6-24EC-4237-9143-9A9EE3B81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05375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9232F"/>
                </a:solidFill>
                <a:latin typeface="Arial"/>
                <a:ea typeface="Arial"/>
                <a:cs typeface="Arial"/>
              </a:rPr>
              <a:t>INT8: 11,24 MiB</a:t>
            </a:r>
          </a:p>
          <a:p xmlns:a="http://schemas.openxmlformats.org/drawingml/2006/main">
            <a:pPr>
              <a:defRPr sz="21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9232F"/>
                </a:solidFill>
                <a:latin typeface="Arial"/>
                <a:ea typeface="Arial"/>
                <a:cs typeface="Arial"/>
              </a:rPr>
              <a:t>ONNX: 42,79 MiB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FD8097-6718-4107-A78C-C613454AB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96675"/>
                </a:solidFill>
                <a:latin typeface="Arial"/>
                <a:ea typeface="Arial"/>
                <a:cs typeface="Arial"/>
              </a:rPr>
              <a:t>Gồm preprocessing + NMS. Không tính đọc ảnh/nạp model. Chưa kiểm soát nhiệt/nguồn điện.</a:t>
            </a:r>
          </a:p>
          <a:p xmlns:a="http://schemas.openxmlformats.org/drawingml/2006/main">
            <a:pPr>
              <a:defRPr sz="15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96675"/>
                </a:solidFill>
                <a:latin typeface="Arial"/>
                <a:ea typeface="Arial"/>
                <a:cs typeface="Arial"/>
              </a:rPr>
              <a:t>Dung lượng artifact khác định dạng không chứng minh mức giảm RAM. Browser đo riêng.</a:t>
            </a:r>
          </a:p>
        </p:txBody>
      </p:sp>
    </p:spTree>
    <p:extLst>
      <p:ext uri="{BB962C8B-B14F-4D97-AF65-F5344CB8AC3E}">
        <p14:creationId xmlns:p14="http://schemas.microsoft.com/office/powerpoint/2010/main" val="12547784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D5402C-22B8-478B-A1CA-94FDA010A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9232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9232F"/>
                </a:solidFill>
                <a:latin typeface="Arial"/>
                <a:ea typeface="Arial"/>
                <a:cs typeface="Arial"/>
              </a:rPr>
              <a:t>Độ đồng thuận sau chuyển đổi và nén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7A5572-04E4-43DB-87BE-30D935CFD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96675"/>
                </a:solidFill>
                <a:latin typeface="Arial"/>
                <a:ea typeface="Arial"/>
                <a:cs typeface="Arial"/>
              </a:rPr>
              <a:t>10 ảnh holdout, 97 hộp PyTorch tham chiếu, ghép cùng lớp tại IoU ≥ 0,5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4E696C-D105-4DB6-B4B6-06167AC9C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675"/>
                </a:solidFill>
                <a:latin typeface="Arial"/>
                <a:ea typeface="Arial"/>
                <a:cs typeface="Arial"/>
              </a:rPr>
              <a:t>M38 Prelabel Studio   /   Sakana   /   Demo Day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48B663-973E-4DBF-9899-978759446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67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18E160-9B18-43E9-89F0-673430BAC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596675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596675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596675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596675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596675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596675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596675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596675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596675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596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59667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596675"/>
                </a:solidFill>
                <a:latin typeface="Arial"/>
                <a:ea typeface="Arial"/>
                <a:cs typeface="Arial"/>
              </a:rPr>
              <a:t>Runtime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F32120-6522-4448-8CF1-AAD8945BA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571750"/>
            <a:ext cx="3524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596675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596675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596675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596675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596675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596675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596675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596675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596675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596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59667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596675"/>
                </a:solidFill>
                <a:latin typeface="Arial"/>
                <a:ea typeface="Arial"/>
                <a:cs typeface="Arial"/>
              </a:rPr>
              <a:t>Hộp ghép / tham chiếu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469436-986F-45AE-97F4-330FA182A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571750"/>
            <a:ext cx="228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596675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596675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596675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596675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596675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596675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596675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596675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596675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596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59667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596675"/>
                </a:solidFill>
                <a:latin typeface="Arial"/>
                <a:ea typeface="Arial"/>
                <a:cs typeface="Arial"/>
              </a:rPr>
              <a:t>Mean IoU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87870-2C65-410D-B8BB-4415BEC40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9232F"/>
                </a:solidFill>
                <a:latin typeface="Arial"/>
                <a:ea typeface="Arial"/>
                <a:cs typeface="Arial"/>
              </a:rPr>
              <a:t>ONNX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DB7097-5CC2-4AC5-8ED8-EA067E49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286125"/>
            <a:ext cx="352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9232F"/>
                </a:solidFill>
                <a:latin typeface="Arial"/>
                <a:ea typeface="Arial"/>
                <a:cs typeface="Arial"/>
              </a:rPr>
              <a:t>97 / 97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CE74E1-2A13-47F8-8257-E235E7CCA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286125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9232F"/>
                </a:solidFill>
                <a:latin typeface="Arial"/>
                <a:ea typeface="Arial"/>
                <a:cs typeface="Arial"/>
              </a:rPr>
              <a:t>1,0000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62D39F-D0D0-483D-B894-2DEF49BE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9232F"/>
                </a:solidFill>
                <a:latin typeface="Arial"/>
                <a:ea typeface="Arial"/>
                <a:cs typeface="Arial"/>
              </a:rPr>
              <a:t>OpenVINO FP16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BBA8C0-D25A-496A-9094-0FFDEDB26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000500"/>
            <a:ext cx="352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9232F"/>
                </a:solidFill>
                <a:latin typeface="Arial"/>
                <a:ea typeface="Arial"/>
                <a:cs typeface="Arial"/>
              </a:rPr>
              <a:t>97 / 97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22AAC1-067E-45C8-93A0-E14DB68D3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00500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9232F"/>
                </a:solidFill>
                <a:latin typeface="Arial"/>
                <a:ea typeface="Arial"/>
                <a:cs typeface="Arial"/>
              </a:rPr>
              <a:t>0,9997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EDA6C6-ED48-453C-9EA6-9B40373C3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9232F"/>
                </a:solidFill>
                <a:latin typeface="Arial"/>
                <a:ea typeface="Arial"/>
                <a:cs typeface="Arial"/>
              </a:rPr>
              <a:t>OpenVINO INT8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12CD8A-4276-4721-A18F-668A6F7BB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714875"/>
            <a:ext cx="352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9232F"/>
                </a:solidFill>
                <a:latin typeface="Arial"/>
                <a:ea typeface="Arial"/>
                <a:cs typeface="Arial"/>
              </a:rPr>
              <a:t>94 / 97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78BAD0-BB7D-4F78-85F9-772E09362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714875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9232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9232F"/>
                </a:solidFill>
                <a:latin typeface="Arial"/>
                <a:ea typeface="Arial"/>
                <a:cs typeface="Arial"/>
              </a:rPr>
              <a:t>0,8092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53EA6E-336A-4352-8D0E-5E3C642C5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B7421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B74219"/>
                </a:solidFill>
                <a:latin typeface="Arial"/>
                <a:ea typeface="Arial"/>
                <a:cs typeface="Arial"/>
              </a:rPr>
              <a:t>Đây là agreement với PyTorch. Chưa có mAP ground truth.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2EAB96-7E53-49E9-8258-DF1F8399F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9667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96675"/>
                </a:solidFill>
                <a:latin typeface="Arial"/>
                <a:ea typeface="Arial"/>
                <a:cs typeface="Arial"/>
              </a:rPr>
              <a:t>Calibration: 16 ảnh hash khác holdout. Chưa xác minh độc lập theo scene.</a:t>
            </a:r>
          </a:p>
        </p:txBody>
      </p:sp>
    </p:spTree>
    <p:extLst>
      <p:ext uri="{BB962C8B-B14F-4D97-AF65-F5344CB8AC3E}">
        <p14:creationId xmlns:p14="http://schemas.microsoft.com/office/powerpoint/2010/main" val="12460130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2026-10-17T04:31:57.5990000Z</dcterms:created>
  <dcterms:modified xsi:type="dcterms:W3CDTF">2026-10-17T04:31:57.5990000Z</dcterms:modified>
</coreProperties>
</file>